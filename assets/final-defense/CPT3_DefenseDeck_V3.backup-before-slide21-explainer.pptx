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81" r:id="rId33"/>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5.xml"/><Relationship Id="rId3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live here. Say which V1 measure you're quoting — 0.861 is the adaptive column. And never present '0.608 to 0.72' as an improvement on the weak boundary; those are two different tests, and like-for-like it went down.</a:t>
            </a:r>
          </a:p>
          <a:p/>
          <a:p>
            <a:r>
              <a:t>Where the 11 weak pairs actually sit (from outputs/validate_construct/pairs.csv): Corporate is in 6 of its 10 boundaries and Leisure in 5 of its 10; every other segment has at most one or two. Two readings, both worth having. Leisure's softness IS the missing middle rung, measured — half the book in one segment is hard to tell from anything. And Corporate is the least well-defined segment on TWO independent diagnostics: most contested by the rules internally (only 6.4% uncontested, 12 Aug) and most weak boundaries on evidence the rules never saw. That is why Corporate is first in line for the SME sample. Guardrail: the lowest bar on this chart is Ultra Wealthy Leisure vs Leisure at 0.611 — NOT the OFW-Balikbayan boundary, which sits at 0.713 in this matrix. The 0.730/0.728 figures come from the isolated round-trip test, a different population. If someone points at the lowest bar: a brand-new segment carved off the top of a segment holding half the book is exactly where the softest edge belongs.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ML's job 1 — refinement — and the only slide that shows what the machine learning actually produced. Slides 8, 10 and 12 promise it; this delivers it. One worked example beats five columns of text: let the picture sit for a beat before talking.</a:t>
            </a:r>
          </a:p>
          <a:p/>
          <a:p>
            <a:r>
              <a:t>The reading: ribbon WIDTH is share of the segment, ribbon colour and position are median revenue. So the eye sees the inversion immediately — the thinnest flow, 16.9%, earns the most at $995, and the fattest, 38.8%, earns the least at $311. Same volume-versus-value asymmetry as slide 17, one level down, inside a single segment.</a:t>
            </a:r>
          </a:p>
          <a:p/>
          <a:p>
            <a:r>
              <a:t>Why Balikbayan/VFR is the example: 12.5% of bookings, 28.4% of revenue, and recommendation 1 tells PAL to protect it. Every sub-type here is a round trip, so the axis that varies is booking horizon — $311 at 26 days out to roughly $900 at 66 to 131 days. A 3.2x spread on one dial, inside one segment, which is a pricing lever the top-level taxonomy cannot see.</a:t>
            </a:r>
          </a:p>
          <a:p/>
          <a:p>
            <a:r>
              <a:t>If asked about the other four: the line under the chart has the ranges. Corporate is widest at $112 to $656, but every sub-type there is short-lead, so its spread is direction and fare rather than timing. OFW at 1.7x and Outbound International at 1.2x are nearly flat — a useful negative: those two do not need sub-segment pricing.</a:t>
            </a:r>
          </a:p>
          <a:p/>
          <a:p>
            <a:r>
              <a:t>GUARDRAIL — do not say 'BIC chose four'. sub_segment.py has K_RANGE = range(2,5), so four is the TOP of the search range and BIC preferred the maximum in all five parents. That is the continuum one level down: no natural number of types inside a segment either. Four is a granularity choice we made, not a structure we discovered. Same trap as k=9 on the PCA slide.</a:t>
            </a:r>
          </a:p>
          <a:p/>
          <a:p>
            <a:r>
              <a:t>Other guardrails: 40,000 bookings per parent, hash-ordered and reproducible (NOT reservoir sampling, which had a threads&gt;1 defect). Sub-types are descriptive only — they change no top-level label and nothing downstream reads them. Chart: src/sankey_subsegment.py, which parses outputs/sub_segments/summary.md so it cannot drift from the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hard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r>
              <a:rPr sz="1050" b="1">
                <a:solidFill>
                  <a:srgbClr val="0D2E5E"/>
                </a:solidFill>
                <a:latin typeface="Arial"/>
              </a:rPr>
              <a:t>Market Segmentation for Philippine Airlines Through Machine Learning</a:t>
            </a:r>
          </a:p>
        </p:txBody>
      </p:sp>
      <p:sp>
        <p:nvSpPr>
          <p:cNvPr id="3" name="Rule"/>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r>
              <a:rPr sz="1100" b="1">
                <a:solidFill>
                  <a:srgbClr val="2166C0"/>
                </a:solidFill>
                <a:latin typeface="Arial"/>
              </a:rPr>
              <a:t>FINDINGS  ·  JOSH</a:t>
            </a:r>
          </a:p>
        </p:txBody>
      </p:sp>
      <p:sp>
        <p:nvSpPr>
          <p:cNvPr id="6" name="TextBox 5"/>
          <p:cNvSpPr txBox="1"/>
          <p:nvPr/>
        </p:nvSpPr>
        <p:spPr>
          <a:xfrm>
            <a:off x="896112" y="1243584"/>
            <a:ext cx="10360152" cy="475488"/>
          </a:xfrm>
          <a:prstGeom prst="rect">
            <a:avLst/>
          </a:prstGeom>
          <a:noFill/>
        </p:spPr>
        <p:txBody>
          <a:bodyPr wrap="square" anchor="t" lIns="0" rIns="0" tIns="0" bIns="0">
            <a:spAutoFit/>
          </a:bodyPr>
          <a:lstStyle/>
          <a:p>
            <a:r>
              <a:rPr sz="2700" b="1">
                <a:solidFill>
                  <a:srgbClr val="0D2E5E"/>
                </a:solidFill>
                <a:latin typeface="Arial"/>
              </a:rPr>
              <a:t>Inside Balikbayan/VFR, the thinnest flows earn the most</a:t>
            </a:r>
          </a:p>
        </p:txBody>
      </p:sp>
      <p:sp>
        <p:nvSpPr>
          <p:cNvPr id="7" name="Subtitle"/>
          <p:cNvSpPr txBox="1"/>
          <p:nvPr/>
        </p:nvSpPr>
        <p:spPr>
          <a:xfrm>
            <a:off x="914400" y="1737360"/>
            <a:ext cx="10360152" cy="219456"/>
          </a:xfrm>
          <a:prstGeom prst="rect">
            <a:avLst/>
          </a:prstGeom>
          <a:noFill/>
        </p:spPr>
        <p:txBody>
          <a:bodyPr wrap="square" anchor="t" lIns="0" rIns="0" tIns="0" bIns="0">
            <a:spAutoFit/>
          </a:bodyPr>
          <a:lstStyle/>
          <a:p>
            <a:r>
              <a:rPr sz="1100" b="0">
                <a:solidFill>
                  <a:srgbClr val="6B7A8C"/>
                </a:solidFill>
                <a:latin typeface="Arial"/>
              </a:rPr>
              <a:t>2,871,255 bookings  ·  12.5% of the book, 28.4% of revenue  ·  every sub-type a round trip</a:t>
            </a:r>
          </a:p>
        </p:txBody>
      </p:sp>
      <p:pic>
        <p:nvPicPr>
          <p:cNvPr id="8" name="Picture 7" descr="fig_s07_sankey_balikbayan_vfr.png"/>
          <p:cNvPicPr>
            <a:picLocks noChangeAspect="1"/>
          </p:cNvPicPr>
          <p:nvPr/>
        </p:nvPicPr>
        <p:blipFill>
          <a:blip r:embed="rId5"/>
          <a:stretch>
            <a:fillRect/>
          </a:stretch>
        </p:blipFill>
        <p:spPr>
          <a:xfrm>
            <a:off x="914400" y="1993392"/>
            <a:ext cx="5852160" cy="3246120"/>
          </a:xfrm>
          <a:prstGeom prst="rect">
            <a:avLst/>
          </a:prstGeom>
        </p:spPr>
      </p:pic>
      <p:sp>
        <p:nvSpPr>
          <p:cNvPr id="9" name="Chip 1"/>
          <p:cNvSpPr/>
          <p:nvPr/>
        </p:nvSpPr>
        <p:spPr>
          <a:xfrm>
            <a:off x="6949440" y="2476161"/>
            <a:ext cx="105156" cy="105156"/>
          </a:xfrm>
          <a:prstGeom prst="rect">
            <a:avLst/>
          </a:prstGeom>
          <a:solidFill>
            <a:srgbClr val="0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 1"/>
          <p:cNvSpPr txBox="1"/>
          <p:nvPr/>
        </p:nvSpPr>
        <p:spPr>
          <a:xfrm>
            <a:off x="7178040" y="2485305"/>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$995</a:t>
            </a:r>
          </a:p>
          <a:p>
            <a:r>
              <a:rPr sz="900" b="0">
                <a:solidFill>
                  <a:srgbClr val="6B7A8C"/>
                </a:solidFill>
                <a:latin typeface="Arial"/>
              </a:rPr>
              <a:t>16.9%  ·  books 66 days ahead  ·  far-advance value</a:t>
            </a:r>
          </a:p>
        </p:txBody>
      </p:sp>
      <p:sp>
        <p:nvSpPr>
          <p:cNvPr id="11" name="Chip 2"/>
          <p:cNvSpPr/>
          <p:nvPr/>
        </p:nvSpPr>
        <p:spPr>
          <a:xfrm>
            <a:off x="6949440" y="2895332"/>
            <a:ext cx="105156" cy="105156"/>
          </a:xfrm>
          <a:prstGeom prst="rect">
            <a:avLst/>
          </a:prstGeom>
          <a:solidFill>
            <a:srgbClr val="3B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el 2"/>
          <p:cNvSpPr txBox="1"/>
          <p:nvPr/>
        </p:nvSpPr>
        <p:spPr>
          <a:xfrm>
            <a:off x="7178040" y="2904476"/>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$814</a:t>
            </a:r>
          </a:p>
          <a:p>
            <a:r>
              <a:rPr sz="900" b="0">
                <a:solidFill>
                  <a:srgbClr val="6B7A8C"/>
                </a:solidFill>
                <a:latin typeface="Arial"/>
              </a:rPr>
              <a:t>13.8%  ·  books 131 days ahead  ·  far-advance supersaver</a:t>
            </a:r>
          </a:p>
        </p:txBody>
      </p:sp>
      <p:sp>
        <p:nvSpPr>
          <p:cNvPr id="13" name="Chip 3"/>
          <p:cNvSpPr/>
          <p:nvPr/>
        </p:nvSpPr>
        <p:spPr>
          <a:xfrm>
            <a:off x="6949440" y="3434545"/>
            <a:ext cx="105156" cy="105156"/>
          </a:xfrm>
          <a:prstGeom prst="rect">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 3"/>
          <p:cNvSpPr txBox="1"/>
          <p:nvPr/>
        </p:nvSpPr>
        <p:spPr>
          <a:xfrm>
            <a:off x="7178040" y="3443689"/>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$482</a:t>
            </a:r>
          </a:p>
          <a:p>
            <a:r>
              <a:rPr sz="900" b="0">
                <a:solidFill>
                  <a:srgbClr val="6B7A8C"/>
                </a:solidFill>
                <a:latin typeface="Arial"/>
              </a:rPr>
              <a:t>30.4%  ·  books 55 days ahead  ·  far-advance saver</a:t>
            </a:r>
          </a:p>
        </p:txBody>
      </p:sp>
      <p:sp>
        <p:nvSpPr>
          <p:cNvPr id="15" name="Chip 4"/>
          <p:cNvSpPr/>
          <p:nvPr/>
        </p:nvSpPr>
        <p:spPr>
          <a:xfrm>
            <a:off x="6949440" y="4196182"/>
            <a:ext cx="105156" cy="105156"/>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abel 4"/>
          <p:cNvSpPr txBox="1"/>
          <p:nvPr/>
        </p:nvSpPr>
        <p:spPr>
          <a:xfrm>
            <a:off x="7178040" y="4205326"/>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$311</a:t>
            </a:r>
          </a:p>
          <a:p>
            <a:r>
              <a:rPr sz="900" b="0">
                <a:solidFill>
                  <a:srgbClr val="6B7A8C"/>
                </a:solidFill>
                <a:latin typeface="Arial"/>
              </a:rPr>
              <a:t>38.8%  ·  books 26 days ahead  ·  advance saver</a:t>
            </a:r>
          </a:p>
        </p:txBody>
      </p:sp>
      <p:sp>
        <p:nvSpPr>
          <p:cNvPr id="17" name="Legend swatch 1"/>
          <p:cNvSpPr/>
          <p:nvPr/>
        </p:nvSpPr>
        <p:spPr>
          <a:xfrm>
            <a:off x="914400" y="5358384"/>
            <a:ext cx="155448" cy="914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gend swatch 2"/>
          <p:cNvSpPr/>
          <p:nvPr/>
        </p:nvSpPr>
        <p:spPr>
          <a:xfrm>
            <a:off x="1097280" y="5358384"/>
            <a:ext cx="155448" cy="91440"/>
          </a:xfrm>
          <a:prstGeom prst="rect">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egend swatch 3"/>
          <p:cNvSpPr/>
          <p:nvPr/>
        </p:nvSpPr>
        <p:spPr>
          <a:xfrm>
            <a:off x="1280160" y="5358384"/>
            <a:ext cx="155448" cy="91440"/>
          </a:xfrm>
          <a:prstGeom prst="rect">
            <a:avLst/>
          </a:prstGeom>
          <a:solidFill>
            <a:srgbClr val="3B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egend swatch 4"/>
          <p:cNvSpPr/>
          <p:nvPr/>
        </p:nvSpPr>
        <p:spPr>
          <a:xfrm>
            <a:off x="1463040" y="5358384"/>
            <a:ext cx="155448" cy="91440"/>
          </a:xfrm>
          <a:prstGeom prst="rect">
            <a:avLst/>
          </a:prstGeom>
          <a:solidFill>
            <a:srgbClr val="0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gend caption"/>
          <p:cNvSpPr txBox="1"/>
          <p:nvPr/>
        </p:nvSpPr>
        <p:spPr>
          <a:xfrm>
            <a:off x="1737360" y="5330952"/>
            <a:ext cx="4572000" cy="182880"/>
          </a:xfrm>
          <a:prstGeom prst="rect">
            <a:avLst/>
          </a:prstGeom>
          <a:noFill/>
        </p:spPr>
        <p:txBody>
          <a:bodyPr wrap="square" anchor="t" lIns="0" rIns="0" tIns="0" bIns="0">
            <a:spAutoFit/>
          </a:bodyPr>
          <a:lstStyle/>
          <a:p>
            <a:r>
              <a:rPr sz="850" b="0">
                <a:solidFill>
                  <a:srgbClr val="8A97A8"/>
                </a:solidFill>
                <a:latin typeface="Arial"/>
              </a:rPr>
              <a:t>median revenue per booking, low → high</a:t>
            </a:r>
          </a:p>
        </p:txBody>
      </p:sp>
      <p:sp>
        <p:nvSpPr>
          <p:cNvPr id="22" name="Footer"/>
          <p:cNvSpPr txBox="1"/>
          <p:nvPr/>
        </p:nvSpPr>
        <p:spPr>
          <a:xfrm>
            <a:off x="914400" y="5614416"/>
            <a:ext cx="10241280" cy="777240"/>
          </a:xfrm>
          <a:prstGeom prst="rect">
            <a:avLst/>
          </a:prstGeom>
          <a:noFill/>
        </p:spPr>
        <p:txBody>
          <a:bodyPr wrap="square" anchor="t" lIns="0" rIns="0" tIns="0" bIns="0">
            <a:spAutoFit/>
          </a:bodyPr>
          <a:lstStyle/>
          <a:p>
            <a:pPr>
              <a:spcAft>
                <a:spcPts val="500"/>
              </a:spcAft>
            </a:pPr>
            <a:r>
              <a:rPr sz="1250" b="1">
                <a:solidFill>
                  <a:srgbClr val="0D2E5E"/>
                </a:solidFill>
                <a:latin typeface="Arial"/>
              </a:rPr>
              <a:t>Volume and value invert inside a segment exactly as they do across the book: the two thinnest flows are 30.7% of Balikbayan and its best-earning customers. ML never assigns a segment — it divides one.</a:t>
            </a:r>
          </a:p>
          <a:p>
            <a:r>
              <a:rPr sz="1000" b="0">
                <a:solidFill>
                  <a:srgbClr val="6B7A8C"/>
                </a:solidFill>
                <a:latin typeface="Arial"/>
              </a:rPr>
              <a:t>The other four parents split the same way — Leisure $24–$97 · OFW/Migrant $170–$295 · Outbound Intl Leisure $285–$339 · Corporate $112–$656. Twenty cells in 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44 of 55 boundaries hold on evidence the rules never saw</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971800"/>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218688"/>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971800"/>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82219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4069080"/>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822192"/>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67258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919472"/>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672584"/>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where the volume is; drift sits in the three smallest segments.</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977639" cy="3133897"/>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
        <p:nvSpPr>
          <p:cNvPr id="25" name="Rectangle 24"/>
          <p:cNvSpPr/>
          <p:nvPr/>
        </p:nvSpPr>
        <p:spPr>
          <a:xfrm>
            <a:off x="6492240" y="5248656"/>
            <a:ext cx="40640" cy="237744"/>
          </a:xfrm>
          <a:prstGeom prst="rect">
            <a:avLst/>
          </a:prstGeom>
          <a:solidFill>
            <a:srgbClr val="35A0DB"/>
          </a:solidFill>
          <a:ln>
            <a:noFill/>
          </a:ln>
          <a:effectLst/>
        </p:spPr>
        <p:txBody>
          <a:bodyPr rtlCol="0" anchor="ctr"/>
          <a:lstStyle/>
          <a:p>
            <a:pPr algn="ctr"/>
          </a:p>
        </p:txBody>
      </p:sp>
      <p:sp>
        <p:nvSpPr>
          <p:cNvPr id="26" name="TextBox 25"/>
          <p:cNvSpPr txBox="1"/>
          <p:nvPr/>
        </p:nvSpPr>
        <p:spPr>
          <a:xfrm>
            <a:off x="6638544" y="52303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refit-cadence claim yet: V4 transfer needs a multi-seed spread.</a:t>
            </a:r>
          </a:p>
        </p:txBody>
      </p:sp>
      <p:sp>
        <p:nvSpPr>
          <p:cNvPr id="27" name="Rectangle 26"/>
          <p:cNvSpPr/>
          <p:nvPr/>
        </p:nvSpPr>
        <p:spPr>
          <a:xfrm>
            <a:off x="914400" y="5321808"/>
            <a:ext cx="40640" cy="237744"/>
          </a:xfrm>
          <a:prstGeom prst="rect">
            <a:avLst/>
          </a:prstGeom>
          <a:solidFill>
            <a:srgbClr val="1B74E8"/>
          </a:solidFill>
          <a:ln>
            <a:noFill/>
          </a:ln>
          <a:effectLst/>
        </p:spPr>
        <p:txBody>
          <a:bodyPr rtlCol="0" anchor="ctr"/>
          <a:lstStyle/>
          <a:p>
            <a:pPr algn="ctr"/>
          </a:p>
        </p:txBody>
      </p:sp>
      <p:sp>
        <p:nvSpPr>
          <p:cNvPr id="28" name="TextBox 27"/>
          <p:cNvSpPr txBox="1"/>
          <p:nvPr/>
        </p:nvSpPr>
        <p:spPr>
          <a:xfrm>
            <a:off x="1060704" y="530352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Segment labels add little incremental prediction — by design, not by failure.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