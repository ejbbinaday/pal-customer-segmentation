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1" r:id="rId33"/>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5.xml"/><Relationship Id="rId3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a:p/>
          <a:p>
            <a:r>
              <a:t>The explainer strip is there so a non-technical panellist can follow every number above it. Do NOT read it aloud — it exists to be read, not narrated. If someone asks what AUC is, point at it and give the one-line version: hand the model one booking from each of two segments, ask which is which, and AUC is how often it gets the order right. 0.50 is a coin flip. Above 0.75 we call the pair clearly distinct.</a:t>
            </a:r>
          </a:p>
          <a:p/>
          <a:p>
            <a:r>
              <a:t>The strip also does the guardrail work for you: it states on the slide that these are the per-pair ADAPTIVE anchors, so you no longer have to remember to say it. And it says why the anchors are withheld per pair, which is the circularity contract from slide 13 doing visible work — a good place to link the two slides if the panel is engaged.</a:t>
            </a:r>
          </a:p>
          <a:p/>
          <a:p>
            <a:r>
              <a:t>V4's line was corrected on 20 Aug: it used to read 'drift sits in the three smallest segments', which was the v1 count. Under v2 four labels drift — Mabuhay Loyalist, Pilgrimage, MICE and Premium Bleisure — and Premium Bleisure at 1.49% is not one of the smallest. The slide now says 8 of 12 stable carrying 98.1%, with the four drifters at 1.9% of the book between them, which is both accurate and the stronger framing.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ML's job 1 — refinement — and the only slide that shows what the machine learning actually produced. Slides 8, 10 and 12 promise it; this delivers it. One worked example beats five columns of text: let the picture sit for a beat before talking.</a:t>
            </a:r>
          </a:p>
          <a:p/>
          <a:p>
            <a:r>
              <a:t>The reading: ribbon WIDTH is share of the segment, ribbon colour and position are median revenue. So the eye sees the inversion immediately — the thinnest flow, 16.9%, earns the most at $995, and the fattest, 38.8%, earns the least at $311. Same volume-versus-value asymmetry as slide 17, one level down, inside a single segment.</a:t>
            </a:r>
          </a:p>
          <a:p/>
          <a:p>
            <a:r>
              <a:t>Why Balikbayan/VFR is the example: 12.5% of bookings, 28.4% of revenue, and recommendation 1 tells PAL to protect it. Every sub-type here is a round trip, so the axis that varies is booking horizon — $311 at 26 days out to roughly $900 at 66 to 131 days. A 3.2x spread on one dial, inside one segment, which is a pricing lever the top-level taxonomy cannot see.</a:t>
            </a:r>
          </a:p>
          <a:p/>
          <a:p>
            <a:r>
              <a:t>If asked about the other four: the line under the chart has the ranges. Corporate is widest at $112 to $656, but every sub-type there is short-lead, so its spread is direction and fare rather than timing. OFW at 1.7x and Outbound International at 1.2x are nearly flat — a useful negative: those two do not need sub-segment pricing.</a:t>
            </a:r>
          </a:p>
          <a:p/>
          <a:p>
            <a:r>
              <a:t>GUARDRAIL — do not say 'BIC chose four'. sub_segment.py has K_RANGE = range(2,5), so four is the TOP of the search range and BIC preferred the maximum in all five parents. That is the continuum one level down: no natural number of types inside a segment either. Four is a granularity choice we made, not a structure we discovered. Same trap as k=9 on the PCA slide.</a:t>
            </a:r>
          </a:p>
          <a:p/>
          <a:p>
            <a:r>
              <a:t>Other guardrails: 40,000 bookings per parent, hash-ordered and reproducible (NOT reservoir sampling, which had a threads&gt;1 defect). Sub-types are descriptive only — they change no top-level label and nothing downstream reads them. Chart: src/sankey_subsegment.py, which parses outputs/sub_segments/summary.md so it cannot drift from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r>
              <a:rPr sz="1050" b="1">
                <a:solidFill>
                  <a:srgbClr val="0D2E5E"/>
                </a:solidFill>
                <a:latin typeface="Arial"/>
              </a:rPr>
              <a:t>Market Segmentation for Philippine Airlines Through Machine Learning</a:t>
            </a:r>
          </a:p>
        </p:txBody>
      </p:sp>
      <p:sp>
        <p:nvSpPr>
          <p:cNvPr id="3" name="Rule"/>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r>
              <a:rPr sz="1100" b="1">
                <a:solidFill>
                  <a:srgbClr val="2166C0"/>
                </a:solidFill>
                <a:latin typeface="Arial"/>
              </a:rPr>
              <a:t>FINDINGS  ·  JOSH</a:t>
            </a:r>
          </a:p>
        </p:txBody>
      </p:sp>
      <p:sp>
        <p:nvSpPr>
          <p:cNvPr id="6" name="TextBox 5"/>
          <p:cNvSpPr txBox="1"/>
          <p:nvPr/>
        </p:nvSpPr>
        <p:spPr>
          <a:xfrm>
            <a:off x="896112" y="1243584"/>
            <a:ext cx="10360152" cy="475488"/>
          </a:xfrm>
          <a:prstGeom prst="rect">
            <a:avLst/>
          </a:prstGeom>
          <a:noFill/>
        </p:spPr>
        <p:txBody>
          <a:bodyPr wrap="square" anchor="t" lIns="0" rIns="0" tIns="0" bIns="0">
            <a:spAutoFit/>
          </a:bodyPr>
          <a:lstStyle/>
          <a:p>
            <a:r>
              <a:rPr sz="2700" b="1">
                <a:solidFill>
                  <a:srgbClr val="0D2E5E"/>
                </a:solidFill>
                <a:latin typeface="Arial"/>
              </a:rPr>
              <a:t>Inside Balikbayan/VFR, the thinnest flows earn the most</a:t>
            </a:r>
          </a:p>
        </p:txBody>
      </p:sp>
      <p:sp>
        <p:nvSpPr>
          <p:cNvPr id="7" name="Subtitle"/>
          <p:cNvSpPr txBox="1"/>
          <p:nvPr/>
        </p:nvSpPr>
        <p:spPr>
          <a:xfrm>
            <a:off x="914400" y="1737360"/>
            <a:ext cx="10360152" cy="219456"/>
          </a:xfrm>
          <a:prstGeom prst="rect">
            <a:avLst/>
          </a:prstGeom>
          <a:noFill/>
        </p:spPr>
        <p:txBody>
          <a:bodyPr wrap="square" anchor="t" lIns="0" rIns="0" tIns="0" bIns="0">
            <a:spAutoFit/>
          </a:bodyPr>
          <a:lstStyle/>
          <a:p>
            <a:r>
              <a:rPr sz="1100" b="0">
                <a:solidFill>
                  <a:srgbClr val="6B7A8C"/>
                </a:solidFill>
                <a:latin typeface="Arial"/>
              </a:rPr>
              <a:t>2,871,255 bookings  ·  12.5% of the book, 28.4% of revenue  ·  every sub-type a round trip</a:t>
            </a:r>
          </a:p>
        </p:txBody>
      </p:sp>
      <p:pic>
        <p:nvPicPr>
          <p:cNvPr id="8" name="Picture 7" descr="fig_s07_sankey_balikbayan_vfr.png"/>
          <p:cNvPicPr>
            <a:picLocks noChangeAspect="1"/>
          </p:cNvPicPr>
          <p:nvPr/>
        </p:nvPicPr>
        <p:blipFill>
          <a:blip r:embed="rId5"/>
          <a:stretch>
            <a:fillRect/>
          </a:stretch>
        </p:blipFill>
        <p:spPr>
          <a:xfrm>
            <a:off x="914400" y="1993392"/>
            <a:ext cx="5852160" cy="3246120"/>
          </a:xfrm>
          <a:prstGeom prst="rect">
            <a:avLst/>
          </a:prstGeom>
        </p:spPr>
      </p:pic>
      <p:sp>
        <p:nvSpPr>
          <p:cNvPr id="9" name="Chip 1"/>
          <p:cNvSpPr/>
          <p:nvPr/>
        </p:nvSpPr>
        <p:spPr>
          <a:xfrm>
            <a:off x="6949440" y="2476161"/>
            <a:ext cx="105156" cy="105156"/>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 1"/>
          <p:cNvSpPr txBox="1"/>
          <p:nvPr/>
        </p:nvSpPr>
        <p:spPr>
          <a:xfrm>
            <a:off x="7178040" y="2485305"/>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$995</a:t>
            </a:r>
          </a:p>
          <a:p>
            <a:r>
              <a:rPr sz="900" b="0">
                <a:solidFill>
                  <a:srgbClr val="6B7A8C"/>
                </a:solidFill>
                <a:latin typeface="Arial"/>
              </a:rPr>
              <a:t>16.9%  ·  books 66 days ahead  ·  far-advance value</a:t>
            </a:r>
          </a:p>
        </p:txBody>
      </p:sp>
      <p:sp>
        <p:nvSpPr>
          <p:cNvPr id="11" name="Chip 2"/>
          <p:cNvSpPr/>
          <p:nvPr/>
        </p:nvSpPr>
        <p:spPr>
          <a:xfrm>
            <a:off x="6949440" y="2895332"/>
            <a:ext cx="105156" cy="105156"/>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el 2"/>
          <p:cNvSpPr txBox="1"/>
          <p:nvPr/>
        </p:nvSpPr>
        <p:spPr>
          <a:xfrm>
            <a:off x="7178040" y="290447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$814</a:t>
            </a:r>
          </a:p>
          <a:p>
            <a:r>
              <a:rPr sz="900" b="0">
                <a:solidFill>
                  <a:srgbClr val="6B7A8C"/>
                </a:solidFill>
                <a:latin typeface="Arial"/>
              </a:rPr>
              <a:t>13.8%  ·  books 131 days ahead  ·  far-advance supersaver</a:t>
            </a:r>
          </a:p>
        </p:txBody>
      </p:sp>
      <p:sp>
        <p:nvSpPr>
          <p:cNvPr id="13" name="Chip 3"/>
          <p:cNvSpPr/>
          <p:nvPr/>
        </p:nvSpPr>
        <p:spPr>
          <a:xfrm>
            <a:off x="6949440" y="3434545"/>
            <a:ext cx="105156" cy="105156"/>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 3"/>
          <p:cNvSpPr txBox="1"/>
          <p:nvPr/>
        </p:nvSpPr>
        <p:spPr>
          <a:xfrm>
            <a:off x="7178040" y="3443689"/>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$482</a:t>
            </a:r>
          </a:p>
          <a:p>
            <a:r>
              <a:rPr sz="900" b="0">
                <a:solidFill>
                  <a:srgbClr val="6B7A8C"/>
                </a:solidFill>
                <a:latin typeface="Arial"/>
              </a:rPr>
              <a:t>30.4%  ·  books 55 days ahead  ·  far-advance saver</a:t>
            </a:r>
          </a:p>
        </p:txBody>
      </p:sp>
      <p:sp>
        <p:nvSpPr>
          <p:cNvPr id="15" name="Chip 4"/>
          <p:cNvSpPr/>
          <p:nvPr/>
        </p:nvSpPr>
        <p:spPr>
          <a:xfrm>
            <a:off x="6949440" y="4196182"/>
            <a:ext cx="105156" cy="105156"/>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bel 4"/>
          <p:cNvSpPr txBox="1"/>
          <p:nvPr/>
        </p:nvSpPr>
        <p:spPr>
          <a:xfrm>
            <a:off x="7178040" y="420532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$311</a:t>
            </a:r>
          </a:p>
          <a:p>
            <a:r>
              <a:rPr sz="900" b="0">
                <a:solidFill>
                  <a:srgbClr val="6B7A8C"/>
                </a:solidFill>
                <a:latin typeface="Arial"/>
              </a:rPr>
              <a:t>38.8%  ·  books 26 days ahead  ·  advance saver</a:t>
            </a:r>
          </a:p>
        </p:txBody>
      </p:sp>
      <p:sp>
        <p:nvSpPr>
          <p:cNvPr id="17" name="Legend swatch 1"/>
          <p:cNvSpPr/>
          <p:nvPr/>
        </p:nvSpPr>
        <p:spPr>
          <a:xfrm>
            <a:off x="914400" y="5358384"/>
            <a:ext cx="155448" cy="914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gend swatch 2"/>
          <p:cNvSpPr/>
          <p:nvPr/>
        </p:nvSpPr>
        <p:spPr>
          <a:xfrm>
            <a:off x="1097280" y="5358384"/>
            <a:ext cx="155448" cy="91440"/>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gend swatch 3"/>
          <p:cNvSpPr/>
          <p:nvPr/>
        </p:nvSpPr>
        <p:spPr>
          <a:xfrm>
            <a:off x="1280160" y="5358384"/>
            <a:ext cx="155448" cy="91440"/>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gend swatch 4"/>
          <p:cNvSpPr/>
          <p:nvPr/>
        </p:nvSpPr>
        <p:spPr>
          <a:xfrm>
            <a:off x="1463040" y="5358384"/>
            <a:ext cx="155448" cy="91440"/>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gend caption"/>
          <p:cNvSpPr txBox="1"/>
          <p:nvPr/>
        </p:nvSpPr>
        <p:spPr>
          <a:xfrm>
            <a:off x="1737360" y="5330952"/>
            <a:ext cx="4572000" cy="182880"/>
          </a:xfrm>
          <a:prstGeom prst="rect">
            <a:avLst/>
          </a:prstGeom>
          <a:noFill/>
        </p:spPr>
        <p:txBody>
          <a:bodyPr wrap="square" anchor="t" lIns="0" rIns="0" tIns="0" bIns="0">
            <a:spAutoFit/>
          </a:bodyPr>
          <a:lstStyle/>
          <a:p>
            <a:r>
              <a:rPr sz="850" b="0">
                <a:solidFill>
                  <a:srgbClr val="8A97A8"/>
                </a:solidFill>
                <a:latin typeface="Arial"/>
              </a:rPr>
              <a:t>median revenue per booking, low → high</a:t>
            </a:r>
          </a:p>
        </p:txBody>
      </p:sp>
      <p:sp>
        <p:nvSpPr>
          <p:cNvPr id="22" name="Footer"/>
          <p:cNvSpPr txBox="1"/>
          <p:nvPr/>
        </p:nvSpPr>
        <p:spPr>
          <a:xfrm>
            <a:off x="914400" y="5614416"/>
            <a:ext cx="10241280" cy="777240"/>
          </a:xfrm>
          <a:prstGeom prst="rect">
            <a:avLst/>
          </a:prstGeom>
          <a:noFill/>
        </p:spPr>
        <p:txBody>
          <a:bodyPr wrap="square" anchor="t" lIns="0" rIns="0" tIns="0" bIns="0">
            <a:spAutoFit/>
          </a:bodyPr>
          <a:lstStyle/>
          <a:p>
            <a:pPr>
              <a:spcAft>
                <a:spcPts val="500"/>
              </a:spcAft>
            </a:pPr>
            <a:r>
              <a:rPr sz="1250" b="1">
                <a:solidFill>
                  <a:srgbClr val="0D2E5E"/>
                </a:solidFill>
                <a:latin typeface="Arial"/>
              </a:rPr>
              <a:t>Volume and value invert inside a segment exactly as they do across the book: the two thinnest flows are 30.7% of Balikbayan and its best-earning customers. ML never assigns a segment — it divides one.</a:t>
            </a:r>
          </a:p>
          <a:p>
            <a:r>
              <a:rPr sz="1000" b="0">
                <a:solidFill>
                  <a:srgbClr val="6B7A8C"/>
                </a:solidFill>
                <a:latin typeface="Arial"/>
              </a:rPr>
              <a:t>The other four parents split the same way — Leisure $24–$97 · OFW/Migrant $170–$295 · Outbound Intl Leisure $285–$339 · Corporate $112–$656. Twenty cells in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871216"/>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118104"/>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871216"/>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62102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3867912"/>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621024"/>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37083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617720"/>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370832"/>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 8 of 12 labels stable, carrying 98.1% of bookings. The four that drift are 1.9% of the book between them.</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319272" cy="2615184"/>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
        <p:nvSpPr>
          <p:cNvPr id="23" name="Explainer accent"/>
          <p:cNvSpPr/>
          <p:nvPr/>
        </p:nvSpPr>
        <p:spPr>
          <a:xfrm>
            <a:off x="914400" y="5175504"/>
            <a:ext cx="36576" cy="274320"/>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xplainer"/>
          <p:cNvSpPr txBox="1"/>
          <p:nvPr/>
        </p:nvSpPr>
        <p:spPr>
          <a:xfrm>
            <a:off x="1060704" y="5138928"/>
            <a:ext cx="10149840" cy="384048"/>
          </a:xfrm>
          <a:prstGeom prst="rect">
            <a:avLst/>
          </a:prstGeom>
          <a:noFill/>
        </p:spPr>
        <p:txBody>
          <a:bodyPr wrap="square" lIns="0" rIns="0" tIns="0" bIns="0">
            <a:spAutoFit/>
          </a:bodyPr>
          <a:lstStyle/>
          <a:p>
            <a:r>
              <a:rPr sz="900" b="1">
                <a:solidFill>
                  <a:srgbClr val="0D2E5E"/>
                </a:solidFill>
                <a:latin typeface="Arial"/>
              </a:rPr>
              <a:t>How to read it — </a:t>
            </a:r>
            <a:r>
              <a:rPr sz="900" b="0">
                <a:solidFill>
                  <a:srgbClr val="4A5468"/>
                </a:solidFill>
                <a:latin typeface="Arial"/>
              </a:rPr>
              <a:t>hand the model one booking from each of two segments and ask which is which; AUC is how often it gets the order right. 0.50 is a coin flip, above 0.75 is clearly distinct. These are the per-pair adaptive anchors: for every pair we withhold any field that encodes the rule bit separating those two segments, so the test never sees what built the label.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