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80" r:id="rId32"/>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PAL segmentation team. Over the next forty minutes we'll show you what we promised the airline, what the data made us change, and what we're handing over. Short version: we went in expecting clusters, the data said no, and the model we ship is better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voices today. Martin opens with the business side, Josh carries the data and modelling story, Jadd walks the dashboards, and then we split the findings between 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constraint early: anonymous PNRs only. If the panel wonders why we never used loyalty data, the answer is on this slide — PAL's Sabre lens simply doesn't carry it. Also plant the seed for later: the point of segmentation here is targeting and communication. That's why we'll be relaxed when a later slide shows the label adds little raw predictive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line on this slide: every risk we flagged in the TOR fired to some degree. The difference is what we did about each one. The clustering risk turned into the project's main result — Josh picks that thread up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distribution over 22.9M bookings — the 30k sample gave us averages and none of these edges. Scale for the panel: 38.1M coupons → 22.9M bookings → 13.4M customers, rebuilt on DuckDB/Parquet so a full pass takes seconds, not minutes. Both bullet points are design decisions born directly from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30k sample couldn't answer our questions — trip purpose lives in patterns like these, and they only exist at full volume. That's why we asked PAL for the whole extract and rebuilt on DuckDB/Parquet. The trench-coat line for the 74%: a customer profile for most of the base is one booking wearing a trench coat.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panel stare at this one. Two honest readings: the algorithm's own classes (left) don't separate cleanly either, and our rule segments (right) overlap heavily in feature space. Neither is a failure of technique — the base is a continuum. If someone asks why PCA: it's a 2-D shadow for the eyes; the formal tests on the next slide work in the full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whole defence. Give the planted-segment test its moment — it answers the one objection that could sink the continuum claim. One guardrail: if asked for the detection floor, quote the majority-rule numbers (roughly 0.49 distinctness at 2% prevalence), never the luckiest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one idea: the waterfall is the deliverable, and machine learning has three jobs around it — refine, test, monitor. It never assigns the label. If someone asks where the clustering went: it's in stage five, working as an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hearing what a wrong turn cost. The prototype wasn't wasted — it's the reason we knew exactly which questions to ask of the real data — but no number from it survives into any deliverable, and we say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effort argument, so don't rush it — but don't read it either. Point at three rows: 11 May (we backed HDBSCAN when the evidence supported it), 23 Jul (we dropped it the day the real data said otherwise — mixed categorical and numerical features, nothing for a density method to grip), and 28 Jul (GMM beat our refinement layer on a benchmark and we still didn't switch, because the benchmark scored a different job than the layer performs). Change of mind driven by evidence,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that earns the methodology grade, it's this one. The H0 story is worth thirty seconds: a statistic that ranges from 2 to 131 on unchanged data cannot detect anything, so we stopped letting it vote — and went back and qualified the earlier report that had used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to Jadd. If the venue allows, this is where the live Power BI demo goes; the recording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row-count headline is the trust argument: nothing dropped, nothing invented, and the build asserts it. The traps box is worth walking through slowly — each one is a way a correct model produces a wrong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shape, not the rows: Leisure is half the bookings and a seventh of the revenue; Balikbayan is an eighth of the bookings and well over a quarter of the revenue. That asymmetry is the whole commercial story. All figures are the PAL-approved v2 taxonomy on the full 22.9M bookings, revenue confirmed USD.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picture sit for a few seconds before talking. The two bars tell the whole commercial story: Leisure dominates headcount and almost nothing else; Balikbayan and the premium segments carry revenue far above their size. If a panelist asks where these numbers come from: outputs/segment_charts/segment_summary.csv, rebuilt from the full booking table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insights the panel won't expect. First: the value-band chart kills the lazy equation of 'premium segment = premium cabin' — Balikbayan is the revenue engine and it flies on Budget-band fares; long international routes do the earning. Be honest about the two ~95% Premium rows: fare tier is part of those segments' rule definitions, so that pattern is partly circular and we say so on the slide. Second: the short-lead chart shows behaviour cutting across segments — which is exactly why Last-Minute works better as a flag than as a segment. Both charts from segment_summary.csv, full 22.9M bookings.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partly to pre-empt our own earlier documents. If a panelist has seen 62.7% somewhere, we said it here first and explained why we don't use it. The flag chart uses the v1-label composition — the counts that were invisible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guardrails live here. Say which V1 measure you're quoting — 0.861 is the adaptive column. And never present '0.608 to 0.72' as an improvement on the weak boundary; those are two different tests, and like-for-like it went down.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Gulf finding is the best domain result we have, and the discipline is to stop one step short of the causal claim. If a panelist pushes on why: the fare-rule confound is open, and we'd rather be right later than interesting now. Also worth volunteering: two pieces of the SME's own claim failed our tests — no 45-day leave spike exists, and pooling Hong Kong/Taipei with the Gulf drags discrimination below chance (0.375 vs 0.676 Gulf-only). We test what we're told, including by the client. Chart source: outputs/stay_length/histogram.csv.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matters: these are limits we found, measured, and documented — not things a panelist discovered for us. The missing accuracy number is deliberate and we should say why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manuscript's recommendations chapter. The one stance worth defending out loud: data investments beat algorithm work at this point — every model experiment we ran says the ceiling is in the features,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third point and stop — no recap. The strongest thing this project produced isn't the labels, it's the apparatus that says exactly how far to trust them. Then hand it to the panel.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on hand: the full 55-pair matrix, the detection grid, the withdrawn-numbers list, and the waterfall v2 before/after flows.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0_Image7.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74000"/>
            </a:srgbClr>
          </a:solidFill>
          <a:ln>
            <a:noFill/>
          </a:ln>
          <a:effectLst/>
        </p:spPr>
        <p:txBody>
          <a:bodyPr rtlCol="0" anchor="ctr"/>
          <a:lstStyle/>
          <a:p>
            <a:pPr algn="ctr"/>
          </a:p>
        </p:txBody>
      </p:sp>
      <p:sp>
        <p:nvSpPr>
          <p:cNvPr id="5" name="TextBox 4"/>
          <p:cNvSpPr txBox="1"/>
          <p:nvPr/>
        </p:nvSpPr>
        <p:spPr>
          <a:xfrm>
            <a:off x="868680" y="777240"/>
            <a:ext cx="7315200" cy="274320"/>
          </a:xfrm>
          <a:prstGeom prst="rect">
            <a:avLst/>
          </a:prstGeom>
          <a:noFill/>
        </p:spPr>
        <p:txBody>
          <a:bodyPr wrap="square" anchor="t" lIns="0" rIns="0" tIns="0" bIns="0">
            <a:spAutoFit/>
          </a:bodyPr>
          <a:lstStyle/>
          <a:p>
            <a:pPr algn="l">
              <a:lnSpc>
                <a:spcPct val="108000"/>
              </a:lnSpc>
            </a:pPr>
            <a:r>
              <a:rPr sz="1200" b="1" spc="340">
                <a:solidFill>
                  <a:srgbClr val="E9F0FA"/>
                </a:solidFill>
                <a:latin typeface="Arial"/>
              </a:rPr>
              <a:t>CAPSTONE FINAL DEFENSE</a:t>
            </a:r>
          </a:p>
        </p:txBody>
      </p:sp>
      <p:sp>
        <p:nvSpPr>
          <p:cNvPr id="6" name="TextBox 5"/>
          <p:cNvSpPr txBox="1"/>
          <p:nvPr/>
        </p:nvSpPr>
        <p:spPr>
          <a:xfrm>
            <a:off x="822960" y="1143000"/>
            <a:ext cx="8778240" cy="2194560"/>
          </a:xfrm>
          <a:prstGeom prst="rect">
            <a:avLst/>
          </a:prstGeom>
          <a:noFill/>
        </p:spPr>
        <p:txBody>
          <a:bodyPr wrap="square" anchor="t" lIns="0" rIns="0" tIns="0" bIns="0">
            <a:spAutoFit/>
          </a:bodyPr>
          <a:lstStyle/>
          <a:p>
            <a:pPr algn="l">
              <a:lnSpc>
                <a:spcPct val="104000"/>
              </a:lnSpc>
            </a:pPr>
            <a:r>
              <a:rPr sz="4000" b="1">
                <a:solidFill>
                  <a:srgbClr val="FFFFFF"/>
                </a:solidFill>
                <a:latin typeface="Arial"/>
              </a:rPr>
              <a:t>Market Segmentation for Philippine Airlines Through Machine Learning</a:t>
            </a:r>
          </a:p>
        </p:txBody>
      </p:sp>
      <p:sp>
        <p:nvSpPr>
          <p:cNvPr id="7" name="TextBox 6"/>
          <p:cNvSpPr txBox="1"/>
          <p:nvPr/>
        </p:nvSpPr>
        <p:spPr>
          <a:xfrm>
            <a:off x="868680" y="4892040"/>
            <a:ext cx="10515600" cy="320040"/>
          </a:xfrm>
          <a:prstGeom prst="rect">
            <a:avLst/>
          </a:prstGeom>
          <a:noFill/>
        </p:spPr>
        <p:txBody>
          <a:bodyPr wrap="square" anchor="t" lIns="0" rIns="0" tIns="0" bIns="0">
            <a:spAutoFit/>
          </a:bodyPr>
          <a:lstStyle/>
          <a:p>
            <a:pPr algn="l">
              <a:lnSpc>
                <a:spcPct val="108000"/>
              </a:lnSpc>
            </a:pPr>
            <a:r>
              <a:rPr sz="1400" b="1">
                <a:solidFill>
                  <a:srgbClr val="FFFFFF"/>
                </a:solidFill>
                <a:latin typeface="Arial"/>
              </a:rPr>
              <a:t>Martin Yamzon      </a:t>
            </a:r>
            <a:r>
              <a:rPr sz="1400" b="1">
                <a:solidFill>
                  <a:srgbClr val="FFFFFF"/>
                </a:solidFill>
                <a:latin typeface="Arial"/>
              </a:rPr>
              <a:t>Jeremy Jay Lim      </a:t>
            </a:r>
            <a:r>
              <a:rPr sz="1400" b="1">
                <a:solidFill>
                  <a:srgbClr val="FFFFFF"/>
                </a:solidFill>
                <a:latin typeface="Arial"/>
              </a:rPr>
              <a:t>Arien Jadd Versoza      </a:t>
            </a:r>
            <a:r>
              <a:rPr sz="1400" b="1">
                <a:solidFill>
                  <a:srgbClr val="FFFFFF"/>
                </a:solidFill>
                <a:latin typeface="Arial"/>
              </a:rPr>
              <a:t>Edyll Joshua Binaday</a:t>
            </a:r>
          </a:p>
        </p:txBody>
      </p:sp>
      <p:sp>
        <p:nvSpPr>
          <p:cNvPr id="8" name="TextBox 7"/>
          <p:cNvSpPr txBox="1"/>
          <p:nvPr/>
        </p:nvSpPr>
        <p:spPr>
          <a:xfrm>
            <a:off x="868680" y="5349240"/>
            <a:ext cx="10515600" cy="640080"/>
          </a:xfrm>
          <a:prstGeom prst="rect">
            <a:avLst/>
          </a:prstGeom>
          <a:noFill/>
        </p:spPr>
        <p:txBody>
          <a:bodyPr wrap="square" anchor="t" lIns="0" rIns="0" tIns="0" bIns="0">
            <a:spAutoFit/>
          </a:bodyPr>
          <a:lstStyle/>
          <a:p>
            <a:pPr algn="l">
              <a:lnSpc>
                <a:spcPct val="135000"/>
              </a:lnSpc>
            </a:pPr>
            <a:r>
              <a:rPr sz="1250" b="0">
                <a:solidFill>
                  <a:srgbClr val="E9F0FA"/>
                </a:solidFill>
                <a:latin typeface="Arial"/>
              </a:rPr>
              <a:t>Advisers: Jose Miguel Bautista, PhD  ·  Rebecca R. Ricalde</a:t>
            </a:r>
          </a:p>
          <a:p>
            <a:pPr algn="l">
              <a:lnSpc>
                <a:spcPct val="135000"/>
              </a:lnSpc>
            </a:pPr>
            <a:r>
              <a:rPr sz="1250" b="0">
                <a:solidFill>
                  <a:srgbClr val="E9F0FA"/>
                </a:solidFill>
                <a:latin typeface="Arial"/>
              </a:rPr>
              <a:t>MS in Artificial Intelligence and Data Analytics  ·  Asian Institute of Management  ·  August 2026</a:t>
            </a:r>
          </a:p>
        </p:txBody>
      </p:sp>
      <p:sp>
        <p:nvSpPr>
          <p:cNvPr id="9" name="Rectangle 8"/>
          <p:cNvSpPr/>
          <p:nvPr/>
        </p:nvSpPr>
        <p:spPr>
          <a:xfrm>
            <a:off x="868680" y="5989320"/>
            <a:ext cx="2377440" cy="566928"/>
          </a:xfrm>
          <a:prstGeom prst="rect">
            <a:avLst/>
          </a:prstGeom>
          <a:solidFill>
            <a:srgbClr val="FFFFFF"/>
          </a:solidFill>
          <a:ln>
            <a:noFill/>
          </a:ln>
          <a:effectLst/>
        </p:spPr>
        <p:txBody>
          <a:bodyPr rtlCol="0" anchor="ctr"/>
          <a:lstStyle/>
          <a:p>
            <a:pPr algn="ctr"/>
          </a:p>
        </p:txBody>
      </p:sp>
      <p:pic>
        <p:nvPicPr>
          <p:cNvPr id="10" name="Picture 9" descr="p0_Image58.png"/>
          <p:cNvPicPr>
            <a:picLocks noChangeAspect="1"/>
          </p:cNvPicPr>
          <p:nvPr/>
        </p:nvPicPr>
        <p:blipFill>
          <a:blip r:embed="rId3"/>
          <a:stretch>
            <a:fillRect/>
          </a:stretch>
        </p:blipFill>
        <p:spPr>
          <a:xfrm>
            <a:off x="960120" y="6053328"/>
            <a:ext cx="1727200" cy="4389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AGENDA</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plan for the next forty minutes</a:t>
            </a:r>
          </a:p>
        </p:txBody>
      </p:sp>
      <p:sp>
        <p:nvSpPr>
          <p:cNvPr id="7" name="TextBox 6"/>
          <p:cNvSpPr txBox="1"/>
          <p:nvPr/>
        </p:nvSpPr>
        <p:spPr>
          <a:xfrm>
            <a:off x="914400" y="214884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1</a:t>
            </a:r>
          </a:p>
        </p:txBody>
      </p:sp>
      <p:sp>
        <p:nvSpPr>
          <p:cNvPr id="8" name="TextBox 7"/>
          <p:cNvSpPr txBox="1"/>
          <p:nvPr/>
        </p:nvSpPr>
        <p:spPr>
          <a:xfrm>
            <a:off x="1417320" y="214884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Problem statement</a:t>
            </a:r>
          </a:p>
        </p:txBody>
      </p:sp>
      <p:sp>
        <p:nvSpPr>
          <p:cNvPr id="9" name="TextBox 8"/>
          <p:cNvSpPr txBox="1"/>
          <p:nvPr/>
        </p:nvSpPr>
        <p:spPr>
          <a:xfrm>
            <a:off x="9509760" y="214884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0" name="TextBox 9"/>
          <p:cNvSpPr txBox="1"/>
          <p:nvPr/>
        </p:nvSpPr>
        <p:spPr>
          <a:xfrm>
            <a:off x="914400" y="258775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2</a:t>
            </a:r>
          </a:p>
        </p:txBody>
      </p:sp>
      <p:sp>
        <p:nvSpPr>
          <p:cNvPr id="11" name="TextBox 10"/>
          <p:cNvSpPr txBox="1"/>
          <p:nvPr/>
        </p:nvSpPr>
        <p:spPr>
          <a:xfrm>
            <a:off x="1417320" y="258775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Terms of reference — what we promised PAL, and the risks</a:t>
            </a:r>
          </a:p>
        </p:txBody>
      </p:sp>
      <p:sp>
        <p:nvSpPr>
          <p:cNvPr id="12" name="TextBox 11"/>
          <p:cNvSpPr txBox="1"/>
          <p:nvPr/>
        </p:nvSpPr>
        <p:spPr>
          <a:xfrm>
            <a:off x="9509760" y="258775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3" name="TextBox 12"/>
          <p:cNvSpPr txBox="1"/>
          <p:nvPr/>
        </p:nvSpPr>
        <p:spPr>
          <a:xfrm>
            <a:off x="914400" y="302666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3</a:t>
            </a:r>
          </a:p>
        </p:txBody>
      </p:sp>
      <p:sp>
        <p:nvSpPr>
          <p:cNvPr id="14" name="TextBox 13"/>
          <p:cNvSpPr txBox="1"/>
          <p:nvPr/>
        </p:nvSpPr>
        <p:spPr>
          <a:xfrm>
            <a:off x="1417320" y="302666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EDA — more data, and no natural clusters</a:t>
            </a:r>
          </a:p>
        </p:txBody>
      </p:sp>
      <p:sp>
        <p:nvSpPr>
          <p:cNvPr id="15" name="TextBox 14"/>
          <p:cNvSpPr txBox="1"/>
          <p:nvPr/>
        </p:nvSpPr>
        <p:spPr>
          <a:xfrm>
            <a:off x="9509760" y="302666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6" name="TextBox 15"/>
          <p:cNvSpPr txBox="1"/>
          <p:nvPr/>
        </p:nvSpPr>
        <p:spPr>
          <a:xfrm>
            <a:off x="914400" y="346557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4</a:t>
            </a:r>
          </a:p>
        </p:txBody>
      </p:sp>
      <p:sp>
        <p:nvSpPr>
          <p:cNvPr id="17" name="TextBox 16"/>
          <p:cNvSpPr txBox="1"/>
          <p:nvPr/>
        </p:nvSpPr>
        <p:spPr>
          <a:xfrm>
            <a:off x="1417320" y="346557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Methodology — the iterations and the workarounds</a:t>
            </a:r>
          </a:p>
        </p:txBody>
      </p:sp>
      <p:sp>
        <p:nvSpPr>
          <p:cNvPr id="18" name="TextBox 17"/>
          <p:cNvSpPr txBox="1"/>
          <p:nvPr/>
        </p:nvSpPr>
        <p:spPr>
          <a:xfrm>
            <a:off x="9509760" y="346557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9" name="TextBox 18"/>
          <p:cNvSpPr txBox="1"/>
          <p:nvPr/>
        </p:nvSpPr>
        <p:spPr>
          <a:xfrm>
            <a:off x="914400" y="3904488"/>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5</a:t>
            </a:r>
          </a:p>
        </p:txBody>
      </p:sp>
      <p:sp>
        <p:nvSpPr>
          <p:cNvPr id="20" name="TextBox 19"/>
          <p:cNvSpPr txBox="1"/>
          <p:nvPr/>
        </p:nvSpPr>
        <p:spPr>
          <a:xfrm>
            <a:off x="1417320" y="3904488"/>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Dashboard development</a:t>
            </a:r>
          </a:p>
        </p:txBody>
      </p:sp>
      <p:sp>
        <p:nvSpPr>
          <p:cNvPr id="21" name="TextBox 20"/>
          <p:cNvSpPr txBox="1"/>
          <p:nvPr/>
        </p:nvSpPr>
        <p:spPr>
          <a:xfrm>
            <a:off x="9509760" y="3904488"/>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Jadd</a:t>
            </a:r>
          </a:p>
        </p:txBody>
      </p:sp>
      <p:sp>
        <p:nvSpPr>
          <p:cNvPr id="22" name="TextBox 21"/>
          <p:cNvSpPr txBox="1"/>
          <p:nvPr/>
        </p:nvSpPr>
        <p:spPr>
          <a:xfrm>
            <a:off x="914400" y="434340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6</a:t>
            </a:r>
          </a:p>
        </p:txBody>
      </p:sp>
      <p:sp>
        <p:nvSpPr>
          <p:cNvPr id="23" name="TextBox 22"/>
          <p:cNvSpPr txBox="1"/>
          <p:nvPr/>
        </p:nvSpPr>
        <p:spPr>
          <a:xfrm>
            <a:off x="1417320" y="434340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Findings</a:t>
            </a:r>
          </a:p>
        </p:txBody>
      </p:sp>
      <p:sp>
        <p:nvSpPr>
          <p:cNvPr id="24" name="TextBox 23"/>
          <p:cNvSpPr txBox="1"/>
          <p:nvPr/>
        </p:nvSpPr>
        <p:spPr>
          <a:xfrm>
            <a:off x="9509760" y="434340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 &amp; Jadd</a:t>
            </a:r>
          </a:p>
        </p:txBody>
      </p:sp>
      <p:sp>
        <p:nvSpPr>
          <p:cNvPr id="25" name="TextBox 24"/>
          <p:cNvSpPr txBox="1"/>
          <p:nvPr/>
        </p:nvSpPr>
        <p:spPr>
          <a:xfrm>
            <a:off x="914400" y="478231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7</a:t>
            </a:r>
          </a:p>
        </p:txBody>
      </p:sp>
      <p:sp>
        <p:nvSpPr>
          <p:cNvPr id="26" name="TextBox 25"/>
          <p:cNvSpPr txBox="1"/>
          <p:nvPr/>
        </p:nvSpPr>
        <p:spPr>
          <a:xfrm>
            <a:off x="1417320" y="478231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Limitations, and what we're fixing before handover</a:t>
            </a:r>
          </a:p>
        </p:txBody>
      </p:sp>
      <p:sp>
        <p:nvSpPr>
          <p:cNvPr id="27" name="TextBox 26"/>
          <p:cNvSpPr txBox="1"/>
          <p:nvPr/>
        </p:nvSpPr>
        <p:spPr>
          <a:xfrm>
            <a:off x="9509760" y="478231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28" name="TextBox 27"/>
          <p:cNvSpPr txBox="1"/>
          <p:nvPr/>
        </p:nvSpPr>
        <p:spPr>
          <a:xfrm>
            <a:off x="914400" y="522122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8</a:t>
            </a:r>
          </a:p>
        </p:txBody>
      </p:sp>
      <p:sp>
        <p:nvSpPr>
          <p:cNvPr id="29" name="TextBox 28"/>
          <p:cNvSpPr txBox="1"/>
          <p:nvPr/>
        </p:nvSpPr>
        <p:spPr>
          <a:xfrm>
            <a:off x="1417320" y="522122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Recommendations</a:t>
            </a:r>
          </a:p>
        </p:txBody>
      </p:sp>
      <p:sp>
        <p:nvSpPr>
          <p:cNvPr id="30" name="TextBox 29"/>
          <p:cNvSpPr txBox="1"/>
          <p:nvPr/>
        </p:nvSpPr>
        <p:spPr>
          <a:xfrm>
            <a:off x="9509760" y="522122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31" name="TextBox 30"/>
          <p:cNvSpPr txBox="1"/>
          <p:nvPr/>
        </p:nvSpPr>
        <p:spPr>
          <a:xfrm>
            <a:off x="914400" y="566013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9</a:t>
            </a:r>
          </a:p>
        </p:txBody>
      </p:sp>
      <p:sp>
        <p:nvSpPr>
          <p:cNvPr id="32" name="TextBox 31"/>
          <p:cNvSpPr txBox="1"/>
          <p:nvPr/>
        </p:nvSpPr>
        <p:spPr>
          <a:xfrm>
            <a:off x="1417320" y="566013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Conclusion</a:t>
            </a:r>
          </a:p>
        </p:txBody>
      </p:sp>
      <p:sp>
        <p:nvSpPr>
          <p:cNvPr id="33" name="TextBox 32"/>
          <p:cNvSpPr txBox="1"/>
          <p:nvPr/>
        </p:nvSpPr>
        <p:spPr>
          <a:xfrm>
            <a:off x="9509760" y="566013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PROBLEM STATEMENT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One economy fare hides very different passengers</a:t>
            </a:r>
          </a:p>
        </p:txBody>
      </p:sp>
      <p:sp>
        <p:nvSpPr>
          <p:cNvPr id="7" name="Rectangle 6"/>
          <p:cNvSpPr/>
          <p:nvPr/>
        </p:nvSpPr>
        <p:spPr>
          <a:xfrm>
            <a:off x="914400" y="2148840"/>
            <a:ext cx="3291840" cy="1051560"/>
          </a:xfrm>
          <a:prstGeom prst="rect">
            <a:avLst/>
          </a:prstGeom>
          <a:solidFill>
            <a:srgbClr val="D9E7F6"/>
          </a:solidFill>
          <a:ln>
            <a:noFill/>
          </a:ln>
          <a:effectLst/>
        </p:spPr>
        <p:txBody>
          <a:bodyPr rtlCol="0" anchor="ctr"/>
          <a:lstStyle/>
          <a:p>
            <a:pPr algn="ctr"/>
          </a:p>
        </p:txBody>
      </p:sp>
      <p:sp>
        <p:nvSpPr>
          <p:cNvPr id="8" name="TextBox 7"/>
          <p:cNvSpPr txBox="1"/>
          <p:nvPr/>
        </p:nvSpPr>
        <p:spPr>
          <a:xfrm>
            <a:off x="1097280"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Contract worker</a:t>
            </a:r>
          </a:p>
        </p:txBody>
      </p:sp>
      <p:sp>
        <p:nvSpPr>
          <p:cNvPr id="9" name="TextBox 8"/>
          <p:cNvSpPr txBox="1"/>
          <p:nvPr/>
        </p:nvSpPr>
        <p:spPr>
          <a:xfrm>
            <a:off x="1097280"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One-way ticket, heavy bags, the employer picked the date.</a:t>
            </a:r>
          </a:p>
        </p:txBody>
      </p:sp>
      <p:sp>
        <p:nvSpPr>
          <p:cNvPr id="10" name="Rectangle 9"/>
          <p:cNvSpPr/>
          <p:nvPr/>
        </p:nvSpPr>
        <p:spPr>
          <a:xfrm>
            <a:off x="4453128" y="2148840"/>
            <a:ext cx="3291840" cy="1051560"/>
          </a:xfrm>
          <a:prstGeom prst="rect">
            <a:avLst/>
          </a:prstGeom>
          <a:solidFill>
            <a:srgbClr val="D9E7F6"/>
          </a:solidFill>
          <a:ln>
            <a:noFill/>
          </a:ln>
          <a:effectLst/>
        </p:spPr>
        <p:txBody>
          <a:bodyPr rtlCol="0" anchor="ctr"/>
          <a:lstStyle/>
          <a:p>
            <a:pPr algn="ctr"/>
          </a:p>
        </p:txBody>
      </p:sp>
      <p:sp>
        <p:nvSpPr>
          <p:cNvPr id="11" name="TextBox 10"/>
          <p:cNvSpPr txBox="1"/>
          <p:nvPr/>
        </p:nvSpPr>
        <p:spPr>
          <a:xfrm>
            <a:off x="4636008"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Corporate</a:t>
            </a:r>
          </a:p>
        </p:txBody>
      </p:sp>
      <p:sp>
        <p:nvSpPr>
          <p:cNvPr id="12" name="TextBox 11"/>
          <p:cNvSpPr txBox="1"/>
          <p:nvPr/>
        </p:nvSpPr>
        <p:spPr>
          <a:xfrm>
            <a:off x="4636008"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this week and will pay what it costs.</a:t>
            </a:r>
          </a:p>
        </p:txBody>
      </p:sp>
      <p:sp>
        <p:nvSpPr>
          <p:cNvPr id="13" name="Rectangle 12"/>
          <p:cNvSpPr/>
          <p:nvPr/>
        </p:nvSpPr>
        <p:spPr>
          <a:xfrm>
            <a:off x="7991856" y="2148840"/>
            <a:ext cx="3291840" cy="1051560"/>
          </a:xfrm>
          <a:prstGeom prst="rect">
            <a:avLst/>
          </a:prstGeom>
          <a:solidFill>
            <a:srgbClr val="D9E7F6"/>
          </a:solidFill>
          <a:ln>
            <a:noFill/>
          </a:ln>
          <a:effectLst/>
        </p:spPr>
        <p:txBody>
          <a:bodyPr rtlCol="0" anchor="ctr"/>
          <a:lstStyle/>
          <a:p>
            <a:pPr algn="ctr"/>
          </a:p>
        </p:txBody>
      </p:sp>
      <p:sp>
        <p:nvSpPr>
          <p:cNvPr id="14" name="TextBox 13"/>
          <p:cNvSpPr txBox="1"/>
          <p:nvPr/>
        </p:nvSpPr>
        <p:spPr>
          <a:xfrm>
            <a:off x="8174736"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Leisure</a:t>
            </a:r>
          </a:p>
        </p:txBody>
      </p:sp>
      <p:sp>
        <p:nvSpPr>
          <p:cNvPr id="15" name="TextBox 14"/>
          <p:cNvSpPr txBox="1"/>
          <p:nvPr/>
        </p:nvSpPr>
        <p:spPr>
          <a:xfrm>
            <a:off x="8174736"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months ago, chasing the promo fare.</a:t>
            </a:r>
          </a:p>
        </p:txBody>
      </p:sp>
      <p:sp>
        <p:nvSpPr>
          <p:cNvPr id="16" name="TextBox 15"/>
          <p:cNvSpPr txBox="1"/>
          <p:nvPr/>
        </p:nvSpPr>
        <p:spPr>
          <a:xfrm>
            <a:off x="914400" y="3520440"/>
            <a:ext cx="10241280" cy="685800"/>
          </a:xfrm>
          <a:prstGeom prst="rect">
            <a:avLst/>
          </a:prstGeom>
          <a:noFill/>
        </p:spPr>
        <p:txBody>
          <a:bodyPr wrap="square" anchor="t" lIns="0" rIns="0" tIns="0" bIns="0">
            <a:spAutoFit/>
          </a:bodyPr>
          <a:lstStyle/>
          <a:p>
            <a:pPr algn="l">
              <a:lnSpc>
                <a:spcPct val="125000"/>
              </a:lnSpc>
            </a:pPr>
            <a:r>
              <a:rPr sz="1350" b="0">
                <a:solidFill>
                  <a:srgbClr val="0D2E5E"/>
                </a:solidFill>
                <a:latin typeface="Arial"/>
              </a:rPr>
              <a:t>All that Sabre gives PAL is the booking — no name, no loyalty tier, no CRM record. Every question about who is actually on the plane has to be answered from booking behaviour alone. That constraint shaped everything we built.</a:t>
            </a:r>
          </a:p>
        </p:txBody>
      </p:sp>
      <p:sp>
        <p:nvSpPr>
          <p:cNvPr id="17" name="Rectangle 16"/>
          <p:cNvSpPr/>
          <p:nvPr/>
        </p:nvSpPr>
        <p:spPr>
          <a:xfrm>
            <a:off x="914400" y="4453128"/>
            <a:ext cx="40640" cy="237744"/>
          </a:xfrm>
          <a:prstGeom prst="rect">
            <a:avLst/>
          </a:prstGeom>
          <a:solidFill>
            <a:srgbClr val="1B74E8"/>
          </a:solidFill>
          <a:ln>
            <a:noFill/>
          </a:ln>
          <a:effectLst/>
        </p:spPr>
        <p:txBody>
          <a:bodyPr rtlCol="0" anchor="ctr"/>
          <a:lstStyle/>
          <a:p>
            <a:pPr algn="ctr"/>
          </a:p>
        </p:txBody>
      </p:sp>
      <p:sp>
        <p:nvSpPr>
          <p:cNvPr id="18" name="TextBox 17"/>
          <p:cNvSpPr txBox="1"/>
          <p:nvPr/>
        </p:nvSpPr>
        <p:spPr>
          <a:xfrm>
            <a:off x="1060704" y="44348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When you can't tell these passengers apart, discounting becomes the default defence against low-cost carriers.</a:t>
            </a:r>
          </a:p>
        </p:txBody>
      </p:sp>
      <p:sp>
        <p:nvSpPr>
          <p:cNvPr id="19" name="Rectangle 18"/>
          <p:cNvSpPr/>
          <p:nvPr/>
        </p:nvSpPr>
        <p:spPr>
          <a:xfrm>
            <a:off x="914400" y="4818888"/>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1060704" y="480060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Promo inventory quietly eats the yield of the passengers who never needed the promo.</a:t>
            </a:r>
          </a:p>
        </p:txBody>
      </p:sp>
      <p:sp>
        <p:nvSpPr>
          <p:cNvPr id="21" name="TextBox 20"/>
          <p:cNvSpPr txBox="1"/>
          <p:nvPr/>
        </p:nvSpPr>
        <p:spPr>
          <a:xfrm>
            <a:off x="914400" y="5440680"/>
            <a:ext cx="10241280" cy="731520"/>
          </a:xfrm>
          <a:prstGeom prst="rect">
            <a:avLst/>
          </a:prstGeom>
          <a:noFill/>
        </p:spPr>
        <p:txBody>
          <a:bodyPr wrap="square" anchor="t" lIns="0" rIns="0" tIns="0" bIns="0">
            <a:spAutoFit/>
          </a:bodyPr>
          <a:lstStyle/>
          <a:p>
            <a:pPr algn="l">
              <a:lnSpc>
                <a:spcPct val="125000"/>
              </a:lnSpc>
            </a:pPr>
            <a:r>
              <a:rPr sz="1350" b="1">
                <a:solidFill>
                  <a:srgbClr val="0D2E5E"/>
                </a:solidFill>
                <a:latin typeface="Arial"/>
              </a:rPr>
              <a:t>The ask: </a:t>
            </a:r>
            <a:r>
              <a:rPr sz="1350" b="0">
                <a:solidFill>
                  <a:srgbClr val="0D2E5E"/>
                </a:solidFill>
                <a:latin typeface="Arial"/>
              </a:rPr>
              <a:t>a trip-purpose × value segmentation on anonymous bookings, at a scale of 38.1 million coupon rows across 2024–2027 — segments a revenue manager would recognise, not statistical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TERMS OF REFERENCE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we signed up for, and where the risks landed</a:t>
            </a:r>
          </a:p>
        </p:txBody>
      </p:sp>
      <p:graphicFrame>
        <p:nvGraphicFramePr>
          <p:cNvPr id="7" name="Table 6"/>
          <p:cNvGraphicFramePr>
            <a:graphicFrameLocks noGrp="1"/>
          </p:cNvGraphicFramePr>
          <p:nvPr/>
        </p:nvGraphicFramePr>
        <p:xfrm>
          <a:off x="914400" y="2103120"/>
          <a:ext cx="10360152" cy="2011680"/>
        </p:xfrm>
        <a:graphic>
          <a:graphicData uri="http://schemas.openxmlformats.org/drawingml/2006/table">
            <a:tbl>
              <a:tblPr firstRow="1" bandRow="1">
                <a:tableStyleId>{5C22544A-7EE6-4342-B048-85BDC9FD1C3A}</a:tableStyleId>
              </a:tblPr>
              <a:tblGrid>
                <a:gridCol w="3931920"/>
                <a:gridCol w="6428232"/>
              </a:tblGrid>
              <a:tr h="402336">
                <a:tc>
                  <a:txBody>
                    <a:bodyPr/>
                    <a:lstStyle/>
                    <a:p>
                      <a:r>
                        <a:rPr sz="1150" b="1">
                          <a:solidFill>
                            <a:srgbClr val="FFFFFF"/>
                          </a:solidFill>
                          <a:latin typeface="Arial"/>
                        </a:rPr>
                        <a:t>Promised</a:t>
                      </a:r>
                    </a:p>
                  </a:txBody>
                  <a:tcPr marL="109728" marR="109728" marT="45720" marB="45720" anchor="ctr">
                    <a:solidFill>
                      <a:srgbClr val="0D2E5E"/>
                    </a:solidFill>
                  </a:tcPr>
                </a:tc>
                <a:tc>
                  <a:txBody>
                    <a:bodyPr/>
                    <a:lstStyle/>
                    <a:p>
                      <a:r>
                        <a:rPr sz="1150" b="1">
                          <a:solidFill>
                            <a:srgbClr val="FFFFFF"/>
                          </a:solidFill>
                          <a:latin typeface="Arial"/>
                        </a:rPr>
                        <a:t>Where it landed</a:t>
                      </a:r>
                    </a:p>
                  </a:txBody>
                  <a:tcPr marL="109728" marR="109728" marT="45720" marB="45720" anchor="ctr">
                    <a:solidFill>
                      <a:srgbClr val="0D2E5E"/>
                    </a:solidFill>
                  </a:tcPr>
                </a:tc>
              </a:tr>
              <a:tr h="402336">
                <a:tc>
                  <a:txBody>
                    <a:bodyPr/>
                    <a:lstStyle/>
                    <a:p>
                      <a:r>
                        <a:rPr sz="1150" b="1">
                          <a:solidFill>
                            <a:srgbClr val="0D2E5E"/>
                          </a:solidFill>
                          <a:latin typeface="Arial"/>
                        </a:rPr>
                        <a:t>Segmentation model on anonymized booking data</a:t>
                      </a:r>
                    </a:p>
                  </a:txBody>
                  <a:tcPr marL="109728" marR="109728" marT="45720" marB="45720" anchor="ctr">
                    <a:solidFill>
                      <a:srgbClr val="EEF4FB"/>
                    </a:solidFill>
                  </a:tcPr>
                </a:tc>
                <a:tc>
                  <a:txBody>
                    <a:bodyPr/>
                    <a:lstStyle/>
                    <a:p>
                      <a:r>
                        <a:rPr sz="1150" b="0">
                          <a:solidFill>
                            <a:srgbClr val="0D2E5E"/>
                          </a:solidFill>
                          <a:latin typeface="Arial"/>
                        </a:rPr>
                        <a:t>Delivered — 11 named segments + a short-lead flag + value bands, on 22.9M bookings</a:t>
                      </a:r>
                    </a:p>
                  </a:txBody>
                  <a:tcPr marL="109728" marR="109728" marT="45720" marB="45720" anchor="ctr">
                    <a:solidFill>
                      <a:srgbClr val="EEF4FB"/>
                    </a:solidFill>
                  </a:tcPr>
                </a:tc>
              </a:tr>
              <a:tr h="402336">
                <a:tc>
                  <a:txBody>
                    <a:bodyPr/>
                    <a:lstStyle/>
                    <a:p>
                      <a:r>
                        <a:rPr sz="1150" b="1">
                          <a:solidFill>
                            <a:srgbClr val="0D2E5E"/>
                          </a:solidFill>
                          <a:latin typeface="Arial"/>
                        </a:rPr>
                        <a:t>Validated, defensible segments</a:t>
                      </a:r>
                    </a:p>
                  </a:txBody>
                  <a:tcPr marL="109728" marR="109728" marT="45720" marB="45720" anchor="ctr">
                    <a:solidFill>
                      <a:srgbClr val="FFFFFF"/>
                    </a:solidFill>
                  </a:tcPr>
                </a:tc>
                <a:tc>
                  <a:txBody>
                    <a:bodyPr/>
                    <a:lstStyle/>
                    <a:p>
                      <a:r>
                        <a:rPr sz="1150" b="0">
                          <a:solidFill>
                            <a:srgbClr val="0D2E5E"/>
                          </a:solidFill>
                          <a:latin typeface="Arial"/>
                        </a:rPr>
                        <a:t>Delivered differently — no ground truth existed, so we built four non-circular tests instead</a:t>
                      </a:r>
                    </a:p>
                  </a:txBody>
                  <a:tcPr marL="109728" marR="109728" marT="45720" marB="45720" anchor="ctr">
                    <a:solidFill>
                      <a:srgbClr val="FFFFFF"/>
                    </a:solidFill>
                  </a:tcPr>
                </a:tc>
              </a:tr>
              <a:tr h="402336">
                <a:tc>
                  <a:txBody>
                    <a:bodyPr/>
                    <a:lstStyle/>
                    <a:p>
                      <a:r>
                        <a:rPr sz="1150" b="1">
                          <a:solidFill>
                            <a:srgbClr val="0D2E5E"/>
                          </a:solidFill>
                          <a:latin typeface="Arial"/>
                        </a:rPr>
                        <a:t>Executive dashboard</a:t>
                      </a:r>
                    </a:p>
                  </a:txBody>
                  <a:tcPr marL="109728" marR="109728" marT="45720" marB="45720" anchor="ctr">
                    <a:solidFill>
                      <a:srgbClr val="EEF4FB"/>
                    </a:solidFill>
                  </a:tcPr>
                </a:tc>
                <a:tc>
                  <a:txBody>
                    <a:bodyPr/>
                    <a:lstStyle/>
                    <a:p>
                      <a:r>
                        <a:rPr sz="1150" b="0">
                          <a:solidFill>
                            <a:srgbClr val="0D2E5E"/>
                          </a:solidFill>
                          <a:latin typeface="Arial"/>
                        </a:rPr>
                        <a:t>Delivered — Power BI star schema, 38.1M rows in and out, reconciled on every build</a:t>
                      </a:r>
                    </a:p>
                  </a:txBody>
                  <a:tcPr marL="109728" marR="109728" marT="45720" marB="45720" anchor="ctr">
                    <a:solidFill>
                      <a:srgbClr val="EEF4FB"/>
                    </a:solidFill>
                  </a:tcPr>
                </a:tc>
              </a:tr>
              <a:tr h="402336">
                <a:tc>
                  <a:txBody>
                    <a:bodyPr/>
                    <a:lstStyle/>
                    <a:p>
                      <a:r>
                        <a:rPr sz="1150" b="1">
                          <a:solidFill>
                            <a:srgbClr val="0D2E5E"/>
                          </a:solidFill>
                          <a:latin typeface="Arial"/>
                        </a:rPr>
                        <a:t>Documentation and handover</a:t>
                      </a:r>
                    </a:p>
                  </a:txBody>
                  <a:tcPr marL="109728" marR="109728" marT="45720" marB="45720" anchor="ctr">
                    <a:solidFill>
                      <a:srgbClr val="FFFFFF"/>
                    </a:solidFill>
                  </a:tcPr>
                </a:tc>
                <a:tc>
                  <a:txBody>
                    <a:bodyPr/>
                    <a:lstStyle/>
                    <a:p>
                      <a:r>
                        <a:rPr sz="1150" b="0">
                          <a:solidFill>
                            <a:srgbClr val="0D2E5E"/>
                          </a:solidFill>
                          <a:latin typeface="Arial"/>
                        </a:rPr>
                        <a:t>Delivered — methodology spec, study guides, a defence brief where every claim carries its caveat</a:t>
                      </a:r>
                    </a:p>
                  </a:txBody>
                  <a:tcPr marL="109728" marR="109728" marT="45720" marB="45720" anchor="ctr">
                    <a:solidFill>
                      <a:srgbClr val="FFFFFF"/>
                    </a:solidFill>
                  </a:tcPr>
                </a:tc>
              </a:tr>
            </a:tbl>
          </a:graphicData>
        </a:graphic>
      </p:graphicFrame>
      <p:sp>
        <p:nvSpPr>
          <p:cNvPr id="8" name="TextBox 7"/>
          <p:cNvSpPr txBox="1"/>
          <p:nvPr/>
        </p:nvSpPr>
        <p:spPr>
          <a:xfrm>
            <a:off x="914400" y="4343400"/>
            <a:ext cx="10058400"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THE RISK REGISTER, REVISITED</a:t>
            </a:r>
          </a:p>
        </p:txBody>
      </p:sp>
      <p:sp>
        <p:nvSpPr>
          <p:cNvPr id="9" name="Rectangle 8"/>
          <p:cNvSpPr/>
          <p:nvPr/>
        </p:nvSpPr>
        <p:spPr>
          <a:xfrm>
            <a:off x="914400" y="4709160"/>
            <a:ext cx="2450592" cy="38100"/>
          </a:xfrm>
          <a:prstGeom prst="rect">
            <a:avLst/>
          </a:prstGeom>
          <a:solidFill>
            <a:srgbClr val="0D2E5E"/>
          </a:solidFill>
          <a:ln>
            <a:noFill/>
          </a:ln>
          <a:effectLst/>
        </p:spPr>
        <p:txBody>
          <a:bodyPr rtlCol="0" anchor="ctr"/>
          <a:lstStyle/>
          <a:p>
            <a:pPr algn="ctr"/>
          </a:p>
        </p:txBody>
      </p:sp>
      <p:sp>
        <p:nvSpPr>
          <p:cNvPr id="10" name="TextBox 9"/>
          <p:cNvSpPr txBox="1"/>
          <p:nvPr/>
        </p:nvSpPr>
        <p:spPr>
          <a:xfrm>
            <a:off x="914400"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natural clusters</a:t>
            </a:r>
          </a:p>
        </p:txBody>
      </p:sp>
      <p:sp>
        <p:nvSpPr>
          <p:cNvPr id="11" name="TextBox 10"/>
          <p:cNvSpPr txBox="1"/>
          <p:nvPr/>
        </p:nvSpPr>
        <p:spPr>
          <a:xfrm>
            <a:off x="914400"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Happened — and became the central finding of the project rather than a failure.</a:t>
            </a:r>
          </a:p>
        </p:txBody>
      </p:sp>
      <p:sp>
        <p:nvSpPr>
          <p:cNvPr id="12" name="Rectangle 11"/>
          <p:cNvSpPr/>
          <p:nvPr/>
        </p:nvSpPr>
        <p:spPr>
          <a:xfrm>
            <a:off x="3557016" y="4709160"/>
            <a:ext cx="2450592" cy="38100"/>
          </a:xfrm>
          <a:prstGeom prst="rect">
            <a:avLst/>
          </a:prstGeom>
          <a:solidFill>
            <a:srgbClr val="1B74E8"/>
          </a:solidFill>
          <a:ln>
            <a:noFill/>
          </a:ln>
          <a:effectLst/>
        </p:spPr>
        <p:txBody>
          <a:bodyPr rtlCol="0" anchor="ctr"/>
          <a:lstStyle/>
          <a:p>
            <a:pPr algn="ctr"/>
          </a:p>
        </p:txBody>
      </p:sp>
      <p:sp>
        <p:nvSpPr>
          <p:cNvPr id="13" name="TextBox 12"/>
          <p:cNvSpPr txBox="1"/>
          <p:nvPr/>
        </p:nvSpPr>
        <p:spPr>
          <a:xfrm>
            <a:off x="3557016"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ground-truth labels</a:t>
            </a:r>
          </a:p>
        </p:txBody>
      </p:sp>
      <p:sp>
        <p:nvSpPr>
          <p:cNvPr id="14" name="TextBox 13"/>
          <p:cNvSpPr txBox="1"/>
          <p:nvPr/>
        </p:nvSpPr>
        <p:spPr>
          <a:xfrm>
            <a:off x="3557016"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Still open. Designed around it; an SME-labelled sample is requested.</a:t>
            </a:r>
          </a:p>
        </p:txBody>
      </p:sp>
      <p:sp>
        <p:nvSpPr>
          <p:cNvPr id="15" name="Rectangle 14"/>
          <p:cNvSpPr/>
          <p:nvPr/>
        </p:nvSpPr>
        <p:spPr>
          <a:xfrm>
            <a:off x="6199632" y="4709160"/>
            <a:ext cx="2450592" cy="38100"/>
          </a:xfrm>
          <a:prstGeom prst="rect">
            <a:avLst/>
          </a:prstGeom>
          <a:solidFill>
            <a:srgbClr val="35A0DB"/>
          </a:solidFill>
          <a:ln>
            <a:noFill/>
          </a:ln>
          <a:effectLst/>
        </p:spPr>
        <p:txBody>
          <a:bodyPr rtlCol="0" anchor="ctr"/>
          <a:lstStyle/>
          <a:p>
            <a:pPr algn="ctr"/>
          </a:p>
        </p:txBody>
      </p:sp>
      <p:sp>
        <p:nvSpPr>
          <p:cNvPr id="16" name="TextBox 15"/>
          <p:cNvSpPr txBox="1"/>
          <p:nvPr/>
        </p:nvSpPr>
        <p:spPr>
          <a:xfrm>
            <a:off x="6199632"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Ambiguous units</a:t>
            </a:r>
          </a:p>
        </p:txBody>
      </p:sp>
      <p:sp>
        <p:nvSpPr>
          <p:cNvPr id="17" name="TextBox 16"/>
          <p:cNvSpPr txBox="1"/>
          <p:nvPr/>
        </p:nvSpPr>
        <p:spPr>
          <a:xfrm>
            <a:off x="6199632"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Real. Revenue was only confirmed as USD on 18 August.</a:t>
            </a:r>
          </a:p>
        </p:txBody>
      </p:sp>
      <p:sp>
        <p:nvSpPr>
          <p:cNvPr id="18" name="Rectangle 17"/>
          <p:cNvSpPr/>
          <p:nvPr/>
        </p:nvSpPr>
        <p:spPr>
          <a:xfrm>
            <a:off x="8842248" y="4709160"/>
            <a:ext cx="2450592" cy="38100"/>
          </a:xfrm>
          <a:prstGeom prst="rect">
            <a:avLst/>
          </a:prstGeom>
          <a:solidFill>
            <a:srgbClr val="0D2E5E"/>
          </a:solidFill>
          <a:ln>
            <a:noFill/>
          </a:ln>
          <a:effectLst/>
        </p:spPr>
        <p:txBody>
          <a:bodyPr rtlCol="0" anchor="ctr"/>
          <a:lstStyle/>
          <a:p>
            <a:pPr algn="ctr"/>
          </a:p>
        </p:txBody>
      </p:sp>
      <p:sp>
        <p:nvSpPr>
          <p:cNvPr id="19" name="TextBox 18"/>
          <p:cNvSpPr txBox="1"/>
          <p:nvPr/>
        </p:nvSpPr>
        <p:spPr>
          <a:xfrm>
            <a:off x="8842248"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SME availability</a:t>
            </a:r>
          </a:p>
        </p:txBody>
      </p:sp>
      <p:sp>
        <p:nvSpPr>
          <p:cNvPr id="20" name="TextBox 19"/>
          <p:cNvSpPr txBox="1"/>
          <p:nvPr/>
        </p:nvSpPr>
        <p:spPr>
          <a:xfrm>
            <a:off x="8842248"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Came through: 39 rules returned, all 24 follow-up questions answered.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lIns="0" rIns="0" tIns="0" bIns="0" anchor="t">
            <a:spAutoFit/>
          </a:bodyPr>
          <a:lstStyle/>
          <a:p>
            <a:pPr algn="l"/>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lIns="0" rIns="0" tIns="0" bIns="0" anchor="t">
            <a:spAutoFit/>
          </a:bodyPr>
          <a:lstStyle/>
          <a:p>
            <a:pPr algn="l"/>
            <a:r>
              <a:rPr sz="1100" b="1">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lIns="0" rIns="0" tIns="0" bIns="0" anchor="t">
            <a:spAutoFit/>
          </a:bodyPr>
          <a:lstStyle/>
          <a:p>
            <a:pPr algn="l"/>
            <a:r>
              <a:rPr sz="2700" b="1">
                <a:solidFill>
                  <a:srgbClr val="0D2E5E"/>
                </a:solidFill>
                <a:latin typeface="Arial"/>
              </a:rPr>
              <a:t>A coupon is one journey; a booking is one decision</a:t>
            </a:r>
          </a:p>
        </p:txBody>
      </p:sp>
      <p:sp>
        <p:nvSpPr>
          <p:cNvPr id="7" name="Rectangle 6"/>
          <p:cNvSpPr/>
          <p:nvPr/>
        </p:nvSpPr>
        <p:spPr>
          <a:xfrm>
            <a:off x="914400" y="2103120"/>
            <a:ext cx="3246120" cy="50292"/>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22576"/>
            <a:ext cx="3246120" cy="310896"/>
          </a:xfrm>
          <a:prstGeom prst="rect">
            <a:avLst/>
          </a:prstGeom>
          <a:noFill/>
        </p:spPr>
        <p:txBody>
          <a:bodyPr wrap="square" lIns="0" rIns="0" tIns="0" bIns="0" anchor="t">
            <a:spAutoFit/>
          </a:bodyPr>
          <a:lstStyle/>
          <a:p>
            <a:pPr algn="l"/>
            <a:r>
              <a:rPr sz="1600" b="1">
                <a:solidFill>
                  <a:srgbClr val="0D2E5E"/>
                </a:solidFill>
                <a:latin typeface="Arial"/>
              </a:rPr>
              <a:t>Problem</a:t>
            </a:r>
          </a:p>
        </p:txBody>
      </p:sp>
      <p:sp>
        <p:nvSpPr>
          <p:cNvPr id="9" name="TextBox 8"/>
          <p:cNvSpPr txBox="1"/>
          <p:nvPr/>
        </p:nvSpPr>
        <p:spPr>
          <a:xfrm>
            <a:off x="914400"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The given data set </a:t>
            </a:r>
            <a:r>
              <a:rPr sz="1300" b="1">
                <a:solidFill>
                  <a:srgbClr val="0D2E5E"/>
                </a:solidFill>
                <a:latin typeface="Arial"/>
              </a:rPr>
              <a:t>was on a coupon level (a single journey)</a:t>
            </a:r>
            <a:r>
              <a:rPr sz="1300" b="0">
                <a:solidFill>
                  <a:srgbClr val="0D2E5E"/>
                </a:solidFill>
                <a:latin typeface="Arial"/>
              </a:rPr>
              <a:t> which is not representative of the booker's decision</a:t>
            </a:r>
          </a:p>
        </p:txBody>
      </p:sp>
      <p:sp>
        <p:nvSpPr>
          <p:cNvPr id="10" name="Rectangle 9"/>
          <p:cNvSpPr/>
          <p:nvPr/>
        </p:nvSpPr>
        <p:spPr>
          <a:xfrm>
            <a:off x="4471416" y="2103120"/>
            <a:ext cx="3246120" cy="50292"/>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322576"/>
            <a:ext cx="3246120" cy="310896"/>
          </a:xfrm>
          <a:prstGeom prst="rect">
            <a:avLst/>
          </a:prstGeom>
          <a:noFill/>
        </p:spPr>
        <p:txBody>
          <a:bodyPr wrap="square" lIns="0" rIns="0" tIns="0" bIns="0" anchor="t">
            <a:spAutoFit/>
          </a:bodyPr>
          <a:lstStyle/>
          <a:p>
            <a:pPr algn="l"/>
            <a:r>
              <a:rPr sz="1600" b="1">
                <a:solidFill>
                  <a:srgbClr val="0D2E5E"/>
                </a:solidFill>
                <a:latin typeface="Arial"/>
              </a:rPr>
              <a:t>Solution</a:t>
            </a:r>
          </a:p>
        </p:txBody>
      </p:sp>
      <p:sp>
        <p:nvSpPr>
          <p:cNvPr id="12" name="TextBox 11"/>
          <p:cNvSpPr txBox="1"/>
          <p:nvPr/>
        </p:nvSpPr>
        <p:spPr>
          <a:xfrm>
            <a:off x="4471416"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Rolling-up the data into the </a:t>
            </a:r>
            <a:r>
              <a:rPr sz="1300" b="1">
                <a:solidFill>
                  <a:srgbClr val="0D2E5E"/>
                </a:solidFill>
                <a:latin typeface="Arial"/>
              </a:rPr>
              <a:t>ticketed booking level</a:t>
            </a:r>
            <a:r>
              <a:rPr sz="1300" b="0">
                <a:solidFill>
                  <a:srgbClr val="0D2E5E"/>
                </a:solidFill>
                <a:latin typeface="Arial"/>
              </a:rPr>
              <a:t>, using the unique ID field.</a:t>
            </a:r>
          </a:p>
        </p:txBody>
      </p:sp>
      <p:sp>
        <p:nvSpPr>
          <p:cNvPr id="13" name="Rectangle 12"/>
          <p:cNvSpPr/>
          <p:nvPr/>
        </p:nvSpPr>
        <p:spPr>
          <a:xfrm>
            <a:off x="8028431" y="2103120"/>
            <a:ext cx="3246120" cy="50292"/>
          </a:xfrm>
          <a:prstGeom prst="rect">
            <a:avLst/>
          </a:prstGeom>
          <a:solidFill>
            <a:srgbClr val="35A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2322576"/>
            <a:ext cx="3246120" cy="310896"/>
          </a:xfrm>
          <a:prstGeom prst="rect">
            <a:avLst/>
          </a:prstGeom>
          <a:noFill/>
        </p:spPr>
        <p:txBody>
          <a:bodyPr wrap="square" lIns="0" rIns="0" tIns="0" bIns="0" anchor="t">
            <a:spAutoFit/>
          </a:bodyPr>
          <a:lstStyle/>
          <a:p>
            <a:pPr algn="l"/>
            <a:r>
              <a:rPr sz="1600" b="1">
                <a:solidFill>
                  <a:srgbClr val="0D2E5E"/>
                </a:solidFill>
                <a:latin typeface="Arial"/>
              </a:rPr>
              <a:t>Limitations</a:t>
            </a:r>
          </a:p>
        </p:txBody>
      </p:sp>
      <p:sp>
        <p:nvSpPr>
          <p:cNvPr id="15" name="TextBox 14"/>
          <p:cNvSpPr txBox="1"/>
          <p:nvPr/>
        </p:nvSpPr>
        <p:spPr>
          <a:xfrm>
            <a:off x="8028431"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We were not allowed to use PII.</a:t>
            </a:r>
          </a:p>
        </p:txBody>
      </p:sp>
      <p:sp>
        <p:nvSpPr>
          <p:cNvPr id="16" name="TextBox 15"/>
          <p:cNvSpPr txBox="1"/>
          <p:nvPr/>
        </p:nvSpPr>
        <p:spPr>
          <a:xfrm>
            <a:off x="914400" y="3858768"/>
            <a:ext cx="4663440" cy="219456"/>
          </a:xfrm>
          <a:prstGeom prst="rect">
            <a:avLst/>
          </a:prstGeom>
          <a:noFill/>
        </p:spPr>
        <p:txBody>
          <a:bodyPr wrap="square" lIns="0" rIns="0" tIns="0" bIns="0" anchor="t">
            <a:spAutoFit/>
          </a:bodyPr>
          <a:lstStyle/>
          <a:p>
            <a:pPr algn="l"/>
            <a:r>
              <a:rPr sz="1000" b="1" spc="80">
                <a:solidFill>
                  <a:srgbClr val="6B7A8C"/>
                </a:solidFill>
                <a:latin typeface="Arial"/>
              </a:rPr>
              <a:t>AS GIVEN  ·  COUPON LEVEL</a:t>
            </a:r>
          </a:p>
        </p:txBody>
      </p:sp>
      <p:sp>
        <p:nvSpPr>
          <p:cNvPr id="17" name="TextBox 16"/>
          <p:cNvSpPr txBox="1"/>
          <p:nvPr/>
        </p:nvSpPr>
        <p:spPr>
          <a:xfrm>
            <a:off x="6720840" y="3858768"/>
            <a:ext cx="4553712" cy="219456"/>
          </a:xfrm>
          <a:prstGeom prst="rect">
            <a:avLst/>
          </a:prstGeom>
          <a:noFill/>
        </p:spPr>
        <p:txBody>
          <a:bodyPr wrap="square" lIns="0" rIns="0" tIns="0" bIns="0" anchor="t">
            <a:spAutoFit/>
          </a:bodyPr>
          <a:lstStyle/>
          <a:p>
            <a:pPr algn="l"/>
            <a:r>
              <a:rPr sz="1000" b="1" spc="80">
                <a:solidFill>
                  <a:srgbClr val="2166C0"/>
                </a:solidFill>
                <a:latin typeface="Arial"/>
              </a:rPr>
              <a:t>AS MODELLED  ·  BOOKING LEVEL</a:t>
            </a:r>
          </a:p>
        </p:txBody>
      </p:sp>
      <p:sp>
        <p:nvSpPr>
          <p:cNvPr id="18" name="Rounded Rectangle 17"/>
          <p:cNvSpPr/>
          <p:nvPr/>
        </p:nvSpPr>
        <p:spPr>
          <a:xfrm>
            <a:off x="914400"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CEB → MNL</a:t>
            </a:r>
          </a:p>
        </p:txBody>
      </p:sp>
      <p:sp>
        <p:nvSpPr>
          <p:cNvPr id="19" name="Rounded Rectangle 18"/>
          <p:cNvSpPr/>
          <p:nvPr/>
        </p:nvSpPr>
        <p:spPr>
          <a:xfrm>
            <a:off x="2112264"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DXB</a:t>
            </a:r>
          </a:p>
        </p:txBody>
      </p:sp>
      <p:sp>
        <p:nvSpPr>
          <p:cNvPr id="20" name="Rounded Rectangle 19"/>
          <p:cNvSpPr/>
          <p:nvPr/>
        </p:nvSpPr>
        <p:spPr>
          <a:xfrm>
            <a:off x="3310128"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DXB → MNL</a:t>
            </a:r>
          </a:p>
        </p:txBody>
      </p:sp>
      <p:sp>
        <p:nvSpPr>
          <p:cNvPr id="21" name="Rounded Rectangle 20"/>
          <p:cNvSpPr/>
          <p:nvPr/>
        </p:nvSpPr>
        <p:spPr>
          <a:xfrm>
            <a:off x="4507992"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CEB</a:t>
            </a:r>
          </a:p>
        </p:txBody>
      </p:sp>
      <p:sp>
        <p:nvSpPr>
          <p:cNvPr id="22" name="TextBox 21"/>
          <p:cNvSpPr txBox="1"/>
          <p:nvPr/>
        </p:nvSpPr>
        <p:spPr>
          <a:xfrm>
            <a:off x="914400" y="4828031"/>
            <a:ext cx="4663440"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Four rows. Counting these as four customers over-counts the cheapest journeys and hides the decision.</a:t>
            </a:r>
          </a:p>
        </p:txBody>
      </p:sp>
      <p:sp>
        <p:nvSpPr>
          <p:cNvPr id="23" name="Right Arrow 22"/>
          <p:cNvSpPr/>
          <p:nvPr/>
        </p:nvSpPr>
        <p:spPr>
          <a:xfrm>
            <a:off x="5742432" y="4306824"/>
            <a:ext cx="731520" cy="292608"/>
          </a:xfrm>
          <a:prstGeom prst="rightArrow">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4681728"/>
            <a:ext cx="1325880" cy="219456"/>
          </a:xfrm>
          <a:prstGeom prst="rect">
            <a:avLst/>
          </a:prstGeom>
          <a:noFill/>
        </p:spPr>
        <p:txBody>
          <a:bodyPr wrap="square" lIns="0" rIns="0" tIns="0" bIns="0" anchor="t">
            <a:spAutoFit/>
          </a:bodyPr>
          <a:lstStyle/>
          <a:p>
            <a:pPr algn="ctr"/>
            <a:r>
              <a:rPr sz="950" b="0">
                <a:solidFill>
                  <a:srgbClr val="6B7A8C"/>
                </a:solidFill>
                <a:latin typeface="Arial"/>
              </a:rPr>
              <a:t>unique ID</a:t>
            </a:r>
          </a:p>
        </p:txBody>
      </p:sp>
      <p:sp>
        <p:nvSpPr>
          <p:cNvPr id="25" name="Rounded Rectangle 24"/>
          <p:cNvSpPr/>
          <p:nvPr/>
        </p:nvSpPr>
        <p:spPr>
          <a:xfrm>
            <a:off x="6720840" y="4169663"/>
            <a:ext cx="4553712" cy="566928"/>
          </a:xfrm>
          <a:prstGeom prst="roundRect">
            <a:avLst>
              <a:gd name="adj" fmla="val 14000"/>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Arial"/>
              </a:rPr>
              <a:t>1 booking  ·  one round trip, one purchase decision</a:t>
            </a:r>
          </a:p>
        </p:txBody>
      </p:sp>
      <p:sp>
        <p:nvSpPr>
          <p:cNvPr id="26" name="TextBox 25"/>
          <p:cNvSpPr txBox="1"/>
          <p:nvPr/>
        </p:nvSpPr>
        <p:spPr>
          <a:xfrm>
            <a:off x="6720840" y="4828031"/>
            <a:ext cx="4553712"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One row, one trip purpose — the grain every rule, chart and segment in this deck is built on.</a:t>
            </a:r>
          </a:p>
        </p:txBody>
      </p:sp>
      <p:sp>
        <p:nvSpPr>
          <p:cNvPr id="27" name="Rectangle 26"/>
          <p:cNvSpPr/>
          <p:nvPr/>
        </p:nvSpPr>
        <p:spPr>
          <a:xfrm>
            <a:off x="914400" y="5806440"/>
            <a:ext cx="36576" cy="237744"/>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5788152"/>
            <a:ext cx="9912096" cy="365760"/>
          </a:xfrm>
          <a:prstGeom prst="rect">
            <a:avLst/>
          </a:prstGeom>
          <a:noFill/>
        </p:spPr>
        <p:txBody>
          <a:bodyPr wrap="square" lIns="0" rIns="0" tIns="0" bIns="0" anchor="t">
            <a:spAutoFit/>
          </a:bodyPr>
          <a:lstStyle/>
          <a:p>
            <a:pPr algn="l"/>
            <a:r>
              <a:rPr sz="1250" b="0">
                <a:solidFill>
                  <a:srgbClr val="6B7A8C"/>
                </a:solidFill>
                <a:latin typeface="Arial"/>
              </a:rPr>
              <a:t>38,116,259 coupons became </a:t>
            </a:r>
            <a:r>
              <a:rPr sz="1250" b="1">
                <a:solidFill>
                  <a:srgbClr val="6B7A8C"/>
                </a:solidFill>
                <a:latin typeface="Arial"/>
              </a:rPr>
              <a:t>22,911,450 bookings</a:t>
            </a:r>
            <a:r>
              <a:rPr sz="1250" b="0">
                <a:solidFill>
                  <a:srgbClr val="6B7A8C"/>
                </a:solidFill>
                <a:latin typeface="Arial"/>
              </a:rPr>
              <a:t> — one purchase decision, one trip purpose — rolling up again to 13.4M customers.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Short-lead, economy-heavy — and the data has edges</a:t>
            </a:r>
          </a:p>
        </p:txBody>
      </p:sp>
      <p:pic>
        <p:nvPicPr>
          <p:cNvPr id="7" name="Picture 6" descr="eda_03_lead_value.png"/>
          <p:cNvPicPr>
            <a:picLocks noChangeAspect="1"/>
          </p:cNvPicPr>
          <p:nvPr/>
        </p:nvPicPr>
        <p:blipFill>
          <a:blip r:embed="rId3"/>
          <a:stretch>
            <a:fillRect/>
          </a:stretch>
        </p:blipFill>
        <p:spPr>
          <a:xfrm>
            <a:off x="1234440" y="2057400"/>
            <a:ext cx="9692640" cy="3597756"/>
          </a:xfrm>
          <a:prstGeom prst="rect">
            <a:avLst/>
          </a:prstGeom>
        </p:spPr>
      </p:pic>
      <p:sp>
        <p:nvSpPr>
          <p:cNvPr id="8" name="Rectangle 7"/>
          <p:cNvSpPr/>
          <p:nvPr/>
        </p:nvSpPr>
        <p:spPr>
          <a:xfrm>
            <a:off x="914400" y="582472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1060704" y="58064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spike inside 3 days seeded the Last-Minute question; the pile-up at 120 days is a data cap, not behaviour — the kind of edge a 30k sample never shows.</a:t>
            </a:r>
          </a:p>
        </p:txBody>
      </p:sp>
      <p:sp>
        <p:nvSpPr>
          <p:cNvPr id="10" name="Rectangle 9"/>
          <p:cNvSpPr/>
          <p:nvPr/>
        </p:nvSpPr>
        <p:spPr>
          <a:xfrm>
            <a:off x="914400" y="6217920"/>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1060704" y="6199632"/>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farebrand ladder is PAL's own value axis. We adopted it as the value dimension rather than inventing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domestic-heavy network, and a base that rarely comes back</a:t>
            </a:r>
          </a:p>
        </p:txBody>
      </p:sp>
      <p:pic>
        <p:nvPicPr>
          <p:cNvPr id="7" name="Picture 6" descr="eda_02_region.png"/>
          <p:cNvPicPr>
            <a:picLocks noChangeAspect="1"/>
          </p:cNvPicPr>
          <p:nvPr/>
        </p:nvPicPr>
        <p:blipFill>
          <a:blip r:embed="rId3"/>
          <a:stretch>
            <a:fillRect/>
          </a:stretch>
        </p:blipFill>
        <p:spPr>
          <a:xfrm>
            <a:off x="914400" y="2148840"/>
            <a:ext cx="6309360" cy="3131616"/>
          </a:xfrm>
          <a:prstGeom prst="rect">
            <a:avLst/>
          </a:prstGeom>
        </p:spPr>
      </p:pic>
      <p:sp>
        <p:nvSpPr>
          <p:cNvPr id="8" name="Rectangle 7"/>
          <p:cNvSpPr/>
          <p:nvPr/>
        </p:nvSpPr>
        <p:spPr>
          <a:xfrm>
            <a:off x="7543800" y="235000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7690104" y="2331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58% of bookings are domestic — so domestic vs international is the first cut in the waterfall, not an afterthought.</a:t>
            </a:r>
          </a:p>
        </p:txBody>
      </p:sp>
      <p:sp>
        <p:nvSpPr>
          <p:cNvPr id="10" name="Rectangle 9"/>
          <p:cNvSpPr/>
          <p:nvPr/>
        </p:nvSpPr>
        <p:spPr>
          <a:xfrm>
            <a:off x="7543800" y="349300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690104" y="3474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The Middle East is 4% of bookings and nothing like 4% of the story — it anchors the OFW segment and a fifth of revenue.</a:t>
            </a:r>
          </a:p>
        </p:txBody>
      </p:sp>
      <p:sp>
        <p:nvSpPr>
          <p:cNvPr id="12" name="Rectangle 11"/>
          <p:cNvSpPr/>
          <p:nvPr/>
        </p:nvSpPr>
        <p:spPr>
          <a:xfrm>
            <a:off x="7543800" y="4636008"/>
            <a:ext cx="40640" cy="237744"/>
          </a:xfrm>
          <a:prstGeom prst="rect">
            <a:avLst/>
          </a:prstGeom>
          <a:solidFill>
            <a:srgbClr val="1B74E8"/>
          </a:solidFill>
          <a:ln>
            <a:noFill/>
          </a:ln>
          <a:effectLst/>
        </p:spPr>
        <p:txBody>
          <a:bodyPr rtlCol="0" anchor="ctr"/>
          <a:lstStyle/>
          <a:p>
            <a:pPr algn="ctr"/>
          </a:p>
        </p:txBody>
      </p:sp>
      <p:sp>
        <p:nvSpPr>
          <p:cNvPr id="13" name="TextBox 12"/>
          <p:cNvSpPr txBox="1"/>
          <p:nvPr/>
        </p:nvSpPr>
        <p:spPr>
          <a:xfrm>
            <a:off x="7690104" y="4617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Only 26% of customers ever book twice. A 'customer profile' for the other 74% is just their one booking restated — so the booking is the modelling row.</a:t>
            </a:r>
          </a:p>
        </p:txBody>
      </p:sp>
      <p:sp>
        <p:nvSpPr>
          <p:cNvPr id="14" name="TextBox 13"/>
          <p:cNvSpPr txBox="1"/>
          <p:nvPr/>
        </p:nvSpPr>
        <p:spPr>
          <a:xfrm>
            <a:off x="914400" y="5623560"/>
            <a:ext cx="10241280" cy="457200"/>
          </a:xfrm>
          <a:prstGeom prst="rect">
            <a:avLst/>
          </a:prstGeom>
          <a:noFill/>
        </p:spPr>
        <p:txBody>
          <a:bodyPr wrap="square" anchor="t" lIns="0" rIns="0" tIns="0" bIns="0">
            <a:spAutoFit/>
          </a:bodyPr>
          <a:lstStyle/>
          <a:p>
            <a:pPr algn="l">
              <a:lnSpc>
                <a:spcPct val="108000"/>
              </a:lnSpc>
            </a:pPr>
            <a:r>
              <a:rPr sz="1000" b="0">
                <a:solidFill>
                  <a:srgbClr val="6B7A8C"/>
                </a:solidFill>
                <a:latin typeface="Arial"/>
              </a:rPr>
              <a:t>38.1M coupon rows → 22.9M bookings → 13.4M customers, 2024–2027. Figures drawn from the full extract by src/report_figures.py.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Our first clustering attempt — everything overlaps</a:t>
            </a:r>
          </a:p>
        </p:txBody>
      </p:sp>
      <p:pic>
        <p:nvPicPr>
          <p:cNvPr id="7" name="Picture 6" descr="clust_02_pca.png"/>
          <p:cNvPicPr>
            <a:picLocks noChangeAspect="1"/>
          </p:cNvPicPr>
          <p:nvPr/>
        </p:nvPicPr>
        <p:blipFill>
          <a:blip r:embed="rId3"/>
          <a:stretch>
            <a:fillRect/>
          </a:stretch>
        </p:blipFill>
        <p:spPr>
          <a:xfrm>
            <a:off x="1691640" y="2011680"/>
            <a:ext cx="8778240" cy="3965749"/>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60k stratified sample, PCA projection. Left: the classes LCA finds on its own. Right: the same points coloured by rule segment. There is no empty space anywhere — every segment bleeds into its neighbours. This picture is why the design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We went looking for clusters and found a continuum</a:t>
            </a:r>
          </a:p>
        </p:txBody>
      </p:sp>
      <p:sp>
        <p:nvSpPr>
          <p:cNvPr id="7" name="TextBox 6"/>
          <p:cNvSpPr txBox="1"/>
          <p:nvPr/>
        </p:nvSpPr>
        <p:spPr>
          <a:xfrm>
            <a:off x="914400" y="2084831"/>
            <a:ext cx="585216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TEN METHODS, SIX FAMILIES, k = 3–12 — SAME CEILING</a:t>
            </a:r>
          </a:p>
        </p:txBody>
      </p:sp>
      <p:pic>
        <p:nvPicPr>
          <p:cNvPr id="8" name="Picture 7" descr="ms_fig1_separation_ceiling.png"/>
          <p:cNvPicPr>
            <a:picLocks noChangeAspect="1"/>
          </p:cNvPicPr>
          <p:nvPr/>
        </p:nvPicPr>
        <p:blipFill>
          <a:blip r:embed="rId3"/>
          <a:stretch>
            <a:fillRect/>
          </a:stretch>
        </p:blipFill>
        <p:spPr>
          <a:xfrm>
            <a:off x="914400" y="2377440"/>
            <a:ext cx="5852160" cy="3529395"/>
          </a:xfrm>
          <a:prstGeom prst="rect">
            <a:avLst/>
          </a:prstGeom>
        </p:spPr>
      </p:pic>
      <p:sp>
        <p:nvSpPr>
          <p:cNvPr id="9" name="TextBox 8"/>
          <p:cNvSpPr txBox="1"/>
          <p:nvPr/>
        </p:nvSpPr>
        <p:spPr>
          <a:xfrm>
            <a:off x="914400" y="6080760"/>
            <a:ext cx="5852160" cy="54864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No method, at any k, reaches the 0.50 'strong structure' band. BIC shows no elbow; HDBSCAN collapses outright — no density gaps to find.</a:t>
            </a:r>
          </a:p>
        </p:txBody>
      </p:sp>
      <p:sp>
        <p:nvSpPr>
          <p:cNvPr id="10" name="TextBox 9"/>
          <p:cNvSpPr txBox="1"/>
          <p:nvPr/>
        </p:nvSpPr>
        <p:spPr>
          <a:xfrm>
            <a:off x="7040880" y="2084831"/>
            <a:ext cx="420624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AND WE'D SEE A SEGMENT IF ONE EXISTED</a:t>
            </a:r>
          </a:p>
        </p:txBody>
      </p:sp>
      <p:pic>
        <p:nvPicPr>
          <p:cNvPr id="11" name="Picture 10" descr="c2_detection_floor.png"/>
          <p:cNvPicPr>
            <a:picLocks noChangeAspect="1"/>
          </p:cNvPicPr>
          <p:nvPr/>
        </p:nvPicPr>
        <p:blipFill>
          <a:blip r:embed="rId4"/>
          <a:stretch>
            <a:fillRect/>
          </a:stretch>
        </p:blipFill>
        <p:spPr>
          <a:xfrm>
            <a:off x="7040880" y="2377440"/>
            <a:ext cx="4251960" cy="2480310"/>
          </a:xfrm>
          <a:prstGeom prst="rect">
            <a:avLst/>
          </a:prstGeom>
        </p:spPr>
      </p:pic>
      <p:sp>
        <p:nvSpPr>
          <p:cNvPr id="12" name="Rectangle 11"/>
          <p:cNvSpPr/>
          <p:nvPr/>
        </p:nvSpPr>
        <p:spPr>
          <a:xfrm>
            <a:off x="7040880" y="5120640"/>
            <a:ext cx="4251960" cy="1417320"/>
          </a:xfrm>
          <a:prstGeom prst="rect">
            <a:avLst/>
          </a:prstGeom>
          <a:solidFill>
            <a:srgbClr val="0D2E5E"/>
          </a:solidFill>
          <a:ln>
            <a:noFill/>
          </a:ln>
          <a:effectLst/>
        </p:spPr>
        <p:txBody>
          <a:bodyPr rtlCol="0" anchor="ctr"/>
          <a:lstStyle/>
          <a:p>
            <a:pPr algn="ctr"/>
          </a:p>
        </p:txBody>
      </p:sp>
      <p:sp>
        <p:nvSpPr>
          <p:cNvPr id="13" name="TextBox 12"/>
          <p:cNvSpPr txBox="1"/>
          <p:nvPr/>
        </p:nvSpPr>
        <p:spPr>
          <a:xfrm>
            <a:off x="7242048" y="5248656"/>
            <a:ext cx="3840480" cy="274320"/>
          </a:xfrm>
          <a:prstGeom prst="rect">
            <a:avLst/>
          </a:prstGeom>
          <a:noFill/>
        </p:spPr>
        <p:txBody>
          <a:bodyPr wrap="square" anchor="t" lIns="0" rIns="0" tIns="0" bIns="0">
            <a:spAutoFit/>
          </a:bodyPr>
          <a:lstStyle/>
          <a:p>
            <a:pPr algn="l">
              <a:lnSpc>
                <a:spcPct val="108000"/>
              </a:lnSpc>
            </a:pPr>
            <a:r>
              <a:rPr sz="1050" b="1" spc="220">
                <a:solidFill>
                  <a:srgbClr val="E9F0FA"/>
                </a:solidFill>
                <a:latin typeface="Arial"/>
              </a:rPr>
              <a:t>SO: RULES, NOT CLUSTERS</a:t>
            </a:r>
          </a:p>
        </p:txBody>
      </p:sp>
      <p:sp>
        <p:nvSpPr>
          <p:cNvPr id="14" name="TextBox 13"/>
          <p:cNvSpPr txBox="1"/>
          <p:nvPr/>
        </p:nvSpPr>
        <p:spPr>
          <a:xfrm>
            <a:off x="7242048" y="5532120"/>
            <a:ext cx="3886200" cy="914400"/>
          </a:xfrm>
          <a:prstGeom prst="rect">
            <a:avLst/>
          </a:prstGeom>
          <a:noFill/>
        </p:spPr>
        <p:txBody>
          <a:bodyPr wrap="square" anchor="t" lIns="0" rIns="0" tIns="0" bIns="0">
            <a:spAutoFit/>
          </a:bodyPr>
          <a:lstStyle/>
          <a:p>
            <a:pPr algn="l">
              <a:lnSpc>
                <a:spcPct val="118000"/>
              </a:lnSpc>
            </a:pPr>
            <a:r>
              <a:rPr sz="1050" b="0">
                <a:solidFill>
                  <a:srgbClr val="FFFFFF"/>
                </a:solidFill>
                <a:latin typeface="Arial"/>
              </a:rPr>
              <a:t>Customers come on a dial, not in boxes. The business draws the lines; the algorithms' job became proving the lines sit in sensible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777D8"/>
              </a:gs>
              <a:gs pos="100000">
                <a:srgbClr val="0B2B66"/>
              </a:gs>
            </a:gsLst>
            <a:lin scaled="0" ang="171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E9F0FA"/>
                </a:solidFill>
                <a:latin typeface="Arial"/>
              </a:rPr>
              <a:t>METHODOLOGY  ·  JOSH</a:t>
            </a:r>
          </a:p>
        </p:txBody>
      </p:sp>
      <p:sp>
        <p:nvSpPr>
          <p:cNvPr id="7" name="TextBox 6"/>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FFFFFF"/>
                </a:solidFill>
                <a:latin typeface="Arial"/>
              </a:rPr>
              <a:t>The rules label every booking; ML checks the rules</a:t>
            </a:r>
          </a:p>
        </p:txBody>
      </p:sp>
      <p:sp>
        <p:nvSpPr>
          <p:cNvPr id="8" name="TextBox 7"/>
          <p:cNvSpPr txBox="1"/>
          <p:nvPr/>
        </p:nvSpPr>
        <p:spPr>
          <a:xfrm>
            <a:off x="914400"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01</a:t>
            </a:r>
          </a:p>
        </p:txBody>
      </p:sp>
      <p:sp>
        <p:nvSpPr>
          <p:cNvPr id="9" name="TextBox 8"/>
          <p:cNvSpPr txBox="1"/>
          <p:nvPr/>
        </p:nvSpPr>
        <p:spPr>
          <a:xfrm>
            <a:off x="914400"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Extract</a:t>
            </a:r>
          </a:p>
        </p:txBody>
      </p:sp>
      <p:sp>
        <p:nvSpPr>
          <p:cNvPr id="10" name="TextBox 9"/>
          <p:cNvSpPr txBox="1"/>
          <p:nvPr/>
        </p:nvSpPr>
        <p:spPr>
          <a:xfrm>
            <a:off x="914400"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38.1M coupon rows, anonymized with PAL. Four gzipped CSVs.</a:t>
            </a:r>
          </a:p>
        </p:txBody>
      </p:sp>
      <p:sp>
        <p:nvSpPr>
          <p:cNvPr id="11" name="TextBox 10"/>
          <p:cNvSpPr txBox="1"/>
          <p:nvPr/>
        </p:nvSpPr>
        <p:spPr>
          <a:xfrm>
            <a:off x="3035808"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02</a:t>
            </a:r>
          </a:p>
        </p:txBody>
      </p:sp>
      <p:sp>
        <p:nvSpPr>
          <p:cNvPr id="12" name="TextBox 11"/>
          <p:cNvSpPr txBox="1"/>
          <p:nvPr/>
        </p:nvSpPr>
        <p:spPr>
          <a:xfrm>
            <a:off x="3035808"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Ingest</a:t>
            </a:r>
          </a:p>
        </p:txBody>
      </p:sp>
      <p:sp>
        <p:nvSpPr>
          <p:cNvPr id="13" name="TextBox 12"/>
          <p:cNvSpPr txBox="1"/>
          <p:nvPr/>
        </p:nvSpPr>
        <p:spPr>
          <a:xfrm>
            <a:off x="3035808"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Typed, partitioned Parquet. One pass, about 90 seconds.</a:t>
            </a:r>
          </a:p>
        </p:txBody>
      </p:sp>
      <p:sp>
        <p:nvSpPr>
          <p:cNvPr id="14" name="TextBox 13"/>
          <p:cNvSpPr txBox="1"/>
          <p:nvPr/>
        </p:nvSpPr>
        <p:spPr>
          <a:xfrm>
            <a:off x="5157216"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03</a:t>
            </a:r>
          </a:p>
        </p:txBody>
      </p:sp>
      <p:sp>
        <p:nvSpPr>
          <p:cNvPr id="15" name="TextBox 14"/>
          <p:cNvSpPr txBox="1"/>
          <p:nvPr/>
        </p:nvSpPr>
        <p:spPr>
          <a:xfrm>
            <a:off x="5157216"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Clean + flag</a:t>
            </a:r>
          </a:p>
        </p:txBody>
      </p:sp>
      <p:sp>
        <p:nvSpPr>
          <p:cNvPr id="16" name="TextBox 15"/>
          <p:cNvSpPr txBox="1"/>
          <p:nvPr/>
        </p:nvSpPr>
        <p:spPr>
          <a:xfrm>
            <a:off x="5157216"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Coupon grain: fare tiers, award and non-rev flags, parsed routes.</a:t>
            </a:r>
          </a:p>
        </p:txBody>
      </p:sp>
      <p:sp>
        <p:nvSpPr>
          <p:cNvPr id="17" name="TextBox 16"/>
          <p:cNvSpPr txBox="1"/>
          <p:nvPr/>
        </p:nvSpPr>
        <p:spPr>
          <a:xfrm>
            <a:off x="7278624"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04</a:t>
            </a:r>
          </a:p>
        </p:txBody>
      </p:sp>
      <p:sp>
        <p:nvSpPr>
          <p:cNvPr id="18" name="TextBox 17"/>
          <p:cNvSpPr txBox="1"/>
          <p:nvPr/>
        </p:nvSpPr>
        <p:spPr>
          <a:xfrm>
            <a:off x="7278624"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Rule waterfall</a:t>
            </a:r>
          </a:p>
        </p:txBody>
      </p:sp>
      <p:sp>
        <p:nvSpPr>
          <p:cNvPr id="19" name="TextBox 18"/>
          <p:cNvSpPr txBox="1"/>
          <p:nvPr/>
        </p:nvSpPr>
        <p:spPr>
          <a:xfrm>
            <a:off x="7278624"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First match wins. 11 segments + Unassigned at booking grain — the deliverable.</a:t>
            </a:r>
          </a:p>
        </p:txBody>
      </p:sp>
      <p:sp>
        <p:nvSpPr>
          <p:cNvPr id="20" name="TextBox 19"/>
          <p:cNvSpPr txBox="1"/>
          <p:nvPr/>
        </p:nvSpPr>
        <p:spPr>
          <a:xfrm>
            <a:off x="9400032"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05</a:t>
            </a:r>
          </a:p>
        </p:txBody>
      </p:sp>
      <p:sp>
        <p:nvSpPr>
          <p:cNvPr id="21" name="TextBox 20"/>
          <p:cNvSpPr txBox="1"/>
          <p:nvPr/>
        </p:nvSpPr>
        <p:spPr>
          <a:xfrm>
            <a:off x="9400032"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Check + ship</a:t>
            </a:r>
          </a:p>
        </p:txBody>
      </p:sp>
      <p:sp>
        <p:nvSpPr>
          <p:cNvPr id="22" name="TextBox 21"/>
          <p:cNvSpPr txBox="1"/>
          <p:nvPr/>
        </p:nvSpPr>
        <p:spPr>
          <a:xfrm>
            <a:off x="9400032"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Four validation stages, LCA sub-segments, drift monitor, Power BI export.</a:t>
            </a:r>
          </a:p>
        </p:txBody>
      </p:sp>
      <p:sp>
        <p:nvSpPr>
          <p:cNvPr id="23" name="Rectangle 22"/>
          <p:cNvSpPr/>
          <p:nvPr/>
        </p:nvSpPr>
        <p:spPr>
          <a:xfrm>
            <a:off x="914400" y="5760720"/>
            <a:ext cx="10360152" cy="502920"/>
          </a:xfrm>
          <a:prstGeom prst="rect">
            <a:avLst/>
          </a:prstGeom>
          <a:solidFill>
            <a:srgbClr val="FFFFFF">
              <a:alpha val="18000"/>
            </a:srgbClr>
          </a:solidFill>
          <a:ln>
            <a:noFill/>
          </a:ln>
          <a:effectLst/>
        </p:spPr>
        <p:txBody>
          <a:bodyPr rtlCol="0" anchor="ctr"/>
          <a:lstStyle/>
          <a:p>
            <a:pPr algn="ctr"/>
          </a:p>
        </p:txBody>
      </p:sp>
      <p:sp>
        <p:nvSpPr>
          <p:cNvPr id="24" name="TextBox 23"/>
          <p:cNvSpPr txBox="1"/>
          <p:nvPr/>
        </p:nvSpPr>
        <p:spPr>
          <a:xfrm>
            <a:off x="1143000" y="5870448"/>
            <a:ext cx="9875520" cy="320040"/>
          </a:xfrm>
          <a:prstGeom prst="rect">
            <a:avLst/>
          </a:prstGeom>
          <a:noFill/>
        </p:spPr>
        <p:txBody>
          <a:bodyPr wrap="square" anchor="t" lIns="0" rIns="0" tIns="0" bIns="0">
            <a:spAutoFit/>
          </a:bodyPr>
          <a:lstStyle/>
          <a:p>
            <a:pPr algn="l">
              <a:lnSpc>
                <a:spcPct val="108000"/>
              </a:lnSpc>
            </a:pPr>
            <a:r>
              <a:rPr sz="1200" b="0">
                <a:solidFill>
                  <a:srgbClr val="FFFFFF"/>
                </a:solidFill>
                <a:latin typeface="Arial"/>
              </a:rPr>
              <a:t>Every 'cannot-be' rule from PAL's revenue managers is asserted in code on every build — the rules and the pipeline physically can't drift apart.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model we're defending is the fourth design, not the first</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v0 — HDBSCAN prototype</a:t>
            </a:r>
          </a:p>
        </p:txBody>
      </p:sp>
      <p:sp>
        <p:nvSpPr>
          <p:cNvPr id="9" name="TextBox 8"/>
          <p:cNvSpPr txBox="1"/>
          <p:nvPr/>
        </p:nvSpPr>
        <p:spPr>
          <a:xfrm>
            <a:off x="914400"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Won a 7-algorithm compare on the 30k sample (silhouette 0.435 vs KMeans 0.167). Then the real extract arrived — categorical-heavy, no density gaps — and it collapsed.</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v1 — the benchmark</a:t>
            </a:r>
          </a:p>
        </p:txBody>
      </p:sp>
      <p:sp>
        <p:nvSpPr>
          <p:cNvPr id="12" name="TextBox 11"/>
          <p:cNvSpPr txBox="1"/>
          <p:nvPr/>
        </p:nvSpPr>
        <p:spPr>
          <a:xfrm>
            <a:off x="3557016"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Ten methods, six families, one verdict: a continuum. We flipped the design — rules become primary, ML becomes the checker.</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v2 — first waterfall</a:t>
            </a:r>
          </a:p>
        </p:txBody>
      </p:sp>
      <p:sp>
        <p:nvSpPr>
          <p:cNvPr id="15" name="TextBox 14"/>
          <p:cNvSpPr txBox="1"/>
          <p:nvPr/>
        </p:nvSpPr>
        <p:spPr>
          <a:xfrm>
            <a:off x="6199632"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Worked, but left 9.6% of bookings Unassigned. PAL's revenue managers sent back 39 rules and answered all 24 of our follow-ups.</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v3 — waterfall v2, shipped</a:t>
            </a:r>
          </a:p>
        </p:txBody>
      </p:sp>
      <p:sp>
        <p:nvSpPr>
          <p:cNvPr id="18" name="TextBox 17"/>
          <p:cNvSpPr txBox="1"/>
          <p:nvPr/>
        </p:nvSpPr>
        <p:spPr>
          <a:xfrm>
            <a:off x="8842248"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Four segments added, three retired, Last-Minute became a flag. Unassigned fell to 2.47%. PAL approved the taxonomy on 17 August.</a:t>
            </a:r>
          </a:p>
        </p:txBody>
      </p:sp>
      <p:sp>
        <p:nvSpPr>
          <p:cNvPr id="19" name="TextBox 18"/>
          <p:cNvSpPr txBox="1"/>
          <p:nvPr/>
        </p:nvSpPr>
        <p:spPr>
          <a:xfrm>
            <a:off x="914400" y="5029200"/>
            <a:ext cx="10241280" cy="100584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What the iterations cost us, honestly: </a:t>
            </a:r>
            <a:r>
              <a:rPr sz="1250" b="0">
                <a:solidFill>
                  <a:srgbClr val="0D2E5E"/>
                </a:solidFill>
                <a:latin typeface="Arial"/>
              </a:rPr>
              <a:t>weeks on a prototype whose results we now quote nowhere, and a first waterfall draft that satisfied only 4 of PAL's 6 hard rules — ordering rules by priority turned out not to be the same thing as enforcing them. Both mistakes are documented in the repo, because the next team will be tempted by the same shortcuts.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400" b="1">
                <a:solidFill>
                  <a:srgbClr val="0D2E5E"/>
                </a:solidFill>
                <a:latin typeface="Arial"/>
              </a:rPr>
              <a:t>Eleven dated iterations, every verdict written down</a:t>
            </a:r>
          </a:p>
        </p:txBody>
      </p:sp>
      <p:sp>
        <p:nvSpPr>
          <p:cNvPr id="7" name="TextBox 6"/>
          <p:cNvSpPr txBox="1"/>
          <p:nvPr/>
        </p:nvSpPr>
        <p:spPr>
          <a:xfrm>
            <a:off x="914400" y="196596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11 May</a:t>
            </a:r>
          </a:p>
        </p:txBody>
      </p:sp>
      <p:sp>
        <p:nvSpPr>
          <p:cNvPr id="8" name="TextBox 7"/>
          <p:cNvSpPr txBox="1"/>
          <p:nvPr/>
        </p:nvSpPr>
        <p:spPr>
          <a:xfrm>
            <a:off x="1874519" y="196596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7 clustering algorithms on the 30k sample; 5 resampling strategies</a:t>
            </a:r>
          </a:p>
        </p:txBody>
      </p:sp>
      <p:sp>
        <p:nvSpPr>
          <p:cNvPr id="9" name="TextBox 8"/>
          <p:cNvSpPr txBox="1"/>
          <p:nvPr/>
        </p:nvSpPr>
        <p:spPr>
          <a:xfrm>
            <a:off x="5989320" y="196596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HDBSCAN wins the sample. Resampling rejected — F1 of 0.99 meant re-learning our own rules</a:t>
            </a:r>
          </a:p>
        </p:txBody>
      </p:sp>
      <p:sp>
        <p:nvSpPr>
          <p:cNvPr id="10" name="TextBox 9"/>
          <p:cNvSpPr txBox="1"/>
          <p:nvPr/>
        </p:nvSpPr>
        <p:spPr>
          <a:xfrm>
            <a:off x="914400" y="235000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Jul</a:t>
            </a:r>
          </a:p>
        </p:txBody>
      </p:sp>
      <p:sp>
        <p:nvSpPr>
          <p:cNvPr id="11" name="TextBox 10"/>
          <p:cNvSpPr txBox="1"/>
          <p:nvPr/>
        </p:nvSpPr>
        <p:spPr>
          <a:xfrm>
            <a:off x="1874519" y="235000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The real 38M-coupon extract lands; full EDA</a:t>
            </a:r>
          </a:p>
        </p:txBody>
      </p:sp>
      <p:sp>
        <p:nvSpPr>
          <p:cNvPr id="12" name="TextBox 11"/>
          <p:cNvSpPr txBox="1"/>
          <p:nvPr/>
        </p:nvSpPr>
        <p:spPr>
          <a:xfrm>
            <a:off x="5989320" y="235000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Mixed categorical + numerical features; loyalty invisible. Features go behaviour-only</a:t>
            </a:r>
          </a:p>
        </p:txBody>
      </p:sp>
      <p:sp>
        <p:nvSpPr>
          <p:cNvPr id="13" name="TextBox 12"/>
          <p:cNvSpPr txBox="1"/>
          <p:nvPr/>
        </p:nvSpPr>
        <p:spPr>
          <a:xfrm>
            <a:off x="914400" y="273405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23 Jul</a:t>
            </a:r>
          </a:p>
        </p:txBody>
      </p:sp>
      <p:sp>
        <p:nvSpPr>
          <p:cNvPr id="14" name="TextBox 13"/>
          <p:cNvSpPr txBox="1"/>
          <p:nvPr/>
        </p:nvSpPr>
        <p:spPr>
          <a:xfrm>
            <a:off x="1874519" y="273405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LCA + k-prototypes diagnostic on the real data</a:t>
            </a:r>
          </a:p>
        </p:txBody>
      </p:sp>
      <p:sp>
        <p:nvSpPr>
          <p:cNvPr id="15" name="TextBox 14"/>
          <p:cNvSpPr txBox="1"/>
          <p:nvPr/>
        </p:nvSpPr>
        <p:spPr>
          <a:xfrm>
            <a:off x="5989320" y="273405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PIVOT — no BIC elbow, ARI ≤ 0.34. HDBSCAN dropped: categorical-heavy, not density-separable. Rules become primary</a:t>
            </a:r>
          </a:p>
        </p:txBody>
      </p:sp>
      <p:sp>
        <p:nvSpPr>
          <p:cNvPr id="16" name="TextBox 15"/>
          <p:cNvSpPr txBox="1"/>
          <p:nvPr/>
        </p:nvSpPr>
        <p:spPr>
          <a:xfrm>
            <a:off x="914400" y="311810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17" name="TextBox 16"/>
          <p:cNvSpPr txBox="1"/>
          <p:nvPr/>
        </p:nvSpPr>
        <p:spPr>
          <a:xfrm>
            <a:off x="1874519" y="311810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k-prototypes vs k-modes vs LCA head-to-head, k = 3–12</a:t>
            </a:r>
          </a:p>
        </p:txBody>
      </p:sp>
      <p:sp>
        <p:nvSpPr>
          <p:cNvPr id="18" name="TextBox 17"/>
          <p:cNvSpPr txBox="1"/>
          <p:nvPr/>
        </p:nvSpPr>
        <p:spPr>
          <a:xfrm>
            <a:off x="5989320" y="311810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LCA keeps the refinement job. Lesson logged: stability without separation is not structure</a:t>
            </a:r>
          </a:p>
        </p:txBody>
      </p:sp>
      <p:sp>
        <p:nvSpPr>
          <p:cNvPr id="19" name="TextBox 18"/>
          <p:cNvSpPr txBox="1"/>
          <p:nvPr/>
        </p:nvSpPr>
        <p:spPr>
          <a:xfrm>
            <a:off x="914400" y="350215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20" name="TextBox 19"/>
          <p:cNvSpPr txBox="1"/>
          <p:nvPr/>
        </p:nvSpPr>
        <p:spPr>
          <a:xfrm>
            <a:off x="1874519" y="350215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Stage X — Power BI export built</a:t>
            </a:r>
          </a:p>
        </p:txBody>
      </p:sp>
      <p:sp>
        <p:nvSpPr>
          <p:cNvPr id="21" name="TextBox 20"/>
          <p:cNvSpPr txBox="1"/>
          <p:nvPr/>
        </p:nvSpPr>
        <p:spPr>
          <a:xfrm>
            <a:off x="5989320" y="350215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38,116,259 rows in = out. Two BI traps surfaced and designed out</a:t>
            </a:r>
          </a:p>
        </p:txBody>
      </p:sp>
      <p:sp>
        <p:nvSpPr>
          <p:cNvPr id="22" name="TextBox 21"/>
          <p:cNvSpPr txBox="1"/>
          <p:nvPr/>
        </p:nvSpPr>
        <p:spPr>
          <a:xfrm>
            <a:off x="914400" y="388620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3" name="TextBox 22"/>
          <p:cNvSpPr txBox="1"/>
          <p:nvPr/>
        </p:nvSpPr>
        <p:spPr>
          <a:xfrm>
            <a:off x="1874519" y="388620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Circularity contract + validation stages V1–V2</a:t>
            </a:r>
          </a:p>
        </p:txBody>
      </p:sp>
      <p:sp>
        <p:nvSpPr>
          <p:cNvPr id="24" name="TextBox 23"/>
          <p:cNvSpPr txBox="1"/>
          <p:nvPr/>
        </p:nvSpPr>
        <p:spPr>
          <a:xfrm>
            <a:off x="5989320" y="388620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Validation unblocked without SME labels — anchors only, enforced in code</a:t>
            </a:r>
          </a:p>
        </p:txBody>
      </p:sp>
      <p:sp>
        <p:nvSpPr>
          <p:cNvPr id="25" name="TextBox 24"/>
          <p:cNvSpPr txBox="1"/>
          <p:nvPr/>
        </p:nvSpPr>
        <p:spPr>
          <a:xfrm>
            <a:off x="914400" y="427024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6" name="TextBox 25"/>
          <p:cNvSpPr txBox="1"/>
          <p:nvPr/>
        </p:nvSpPr>
        <p:spPr>
          <a:xfrm>
            <a:off x="1874519" y="427024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10-method, 6-family, 8-axis stress test</a:t>
            </a:r>
          </a:p>
        </p:txBody>
      </p:sp>
      <p:sp>
        <p:nvSpPr>
          <p:cNvPr id="27" name="TextBox 26"/>
          <p:cNvSpPr txBox="1"/>
          <p:nvPr/>
        </p:nvSpPr>
        <p:spPr>
          <a:xfrm>
            <a:off x="5989320" y="427024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GMM wins the benchmark — pipeline unchanged, different job. Ceiling 0.381 stands</a:t>
            </a:r>
          </a:p>
        </p:txBody>
      </p:sp>
      <p:sp>
        <p:nvSpPr>
          <p:cNvPr id="28" name="TextBox 27"/>
          <p:cNvSpPr txBox="1"/>
          <p:nvPr/>
        </p:nvSpPr>
        <p:spPr>
          <a:xfrm>
            <a:off x="914400" y="465429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29" name="TextBox 28"/>
          <p:cNvSpPr txBox="1"/>
          <p:nvPr/>
        </p:nvSpPr>
        <p:spPr>
          <a:xfrm>
            <a:off x="1874519" y="465429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Detection power — planted segments (V3)</a:t>
            </a:r>
          </a:p>
        </p:txBody>
      </p:sp>
      <p:sp>
        <p:nvSpPr>
          <p:cNvPr id="30" name="TextBox 29"/>
          <p:cNvSpPr txBox="1"/>
          <p:nvPr/>
        </p:nvSpPr>
        <p:spPr>
          <a:xfrm>
            <a:off x="5989320" y="465429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null becomes falsifiable; blind spot below ~1% stated; one instrument retired</a:t>
            </a:r>
          </a:p>
        </p:txBody>
      </p:sp>
      <p:sp>
        <p:nvSpPr>
          <p:cNvPr id="31" name="TextBox 30"/>
          <p:cNvSpPr txBox="1"/>
          <p:nvPr/>
        </p:nvSpPr>
        <p:spPr>
          <a:xfrm>
            <a:off x="914400" y="503834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32" name="TextBox 31"/>
          <p:cNvSpPr txBox="1"/>
          <p:nvPr/>
        </p:nvSpPr>
        <p:spPr>
          <a:xfrm>
            <a:off x="1874519" y="503834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Out-of-time stability (V4)</a:t>
            </a:r>
          </a:p>
        </p:txBody>
      </p:sp>
      <p:sp>
        <p:nvSpPr>
          <p:cNvPr id="33" name="TextBox 32"/>
          <p:cNvSpPr txBox="1"/>
          <p:nvPr/>
        </p:nvSpPr>
        <p:spPr>
          <a:xfrm>
            <a:off x="5989320" y="503834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Shares hold across a 12-month step; the departure-filter censoring trap recorded</a:t>
            </a:r>
          </a:p>
        </p:txBody>
      </p:sp>
      <p:sp>
        <p:nvSpPr>
          <p:cNvPr id="34" name="TextBox 33"/>
          <p:cNvSpPr txBox="1"/>
          <p:nvPr/>
        </p:nvSpPr>
        <p:spPr>
          <a:xfrm>
            <a:off x="914400" y="542239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12 Aug</a:t>
            </a:r>
          </a:p>
        </p:txBody>
      </p:sp>
      <p:sp>
        <p:nvSpPr>
          <p:cNvPr id="35" name="TextBox 34"/>
          <p:cNvSpPr txBox="1"/>
          <p:nvPr/>
        </p:nvSpPr>
        <p:spPr>
          <a:xfrm>
            <a:off x="1874519" y="542239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Rule-confidence diagnostics</a:t>
            </a:r>
          </a:p>
        </p:txBody>
      </p:sp>
      <p:sp>
        <p:nvSpPr>
          <p:cNvPr id="36" name="TextBox 35"/>
          <p:cNvSpPr txBox="1"/>
          <p:nvPr/>
        </p:nvSpPr>
        <p:spPr>
          <a:xfrm>
            <a:off x="5989320" y="542239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Corporate is the most contested label — it becomes the SME sampling frame</a:t>
            </a:r>
          </a:p>
        </p:txBody>
      </p:sp>
      <p:sp>
        <p:nvSpPr>
          <p:cNvPr id="37" name="TextBox 36"/>
          <p:cNvSpPr txBox="1"/>
          <p:nvPr/>
        </p:nvSpPr>
        <p:spPr>
          <a:xfrm>
            <a:off x="914400" y="580644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17–18 Aug</a:t>
            </a:r>
          </a:p>
        </p:txBody>
      </p:sp>
      <p:sp>
        <p:nvSpPr>
          <p:cNvPr id="38" name="TextBox 37"/>
          <p:cNvSpPr txBox="1"/>
          <p:nvPr/>
        </p:nvSpPr>
        <p:spPr>
          <a:xfrm>
            <a:off x="1874519" y="580644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SME programme lands → waterfall v2</a:t>
            </a:r>
          </a:p>
        </p:txBody>
      </p:sp>
      <p:sp>
        <p:nvSpPr>
          <p:cNvPr id="39" name="TextBox 38"/>
          <p:cNvSpPr txBox="1"/>
          <p:nvPr/>
        </p:nvSpPr>
        <p:spPr>
          <a:xfrm>
            <a:off x="5989320" y="580644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39 rules in, 24 answers. Unassigned 9.58% → 2.47%. PAL approves the taxonomy</a:t>
            </a:r>
          </a:p>
        </p:txBody>
      </p:sp>
      <p:sp>
        <p:nvSpPr>
          <p:cNvPr id="40" name="TextBox 39"/>
          <p:cNvSpPr txBox="1"/>
          <p:nvPr/>
        </p:nvSpPr>
        <p:spPr>
          <a:xfrm>
            <a:off x="914400" y="6300216"/>
            <a:ext cx="10241280" cy="365760"/>
          </a:xfrm>
          <a:prstGeom prst="rect">
            <a:avLst/>
          </a:prstGeom>
          <a:noFill/>
        </p:spPr>
        <p:txBody>
          <a:bodyPr wrap="square" anchor="t" lIns="0" rIns="0" tIns="0" bIns="0">
            <a:spAutoFit/>
          </a:bodyPr>
          <a:lstStyle/>
          <a:p>
            <a:pPr algn="l">
              <a:lnSpc>
                <a:spcPct val="108000"/>
              </a:lnSpc>
            </a:pPr>
            <a:r>
              <a:rPr sz="1050" b="0">
                <a:solidFill>
                  <a:srgbClr val="6B7A8C"/>
                </a:solidFill>
                <a:latin typeface="Arial"/>
              </a:rPr>
              <a:t>Each row is a script in the repo with its output report — the trail is re-runnable, not remembered.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Validation built so it can't fool us — or you</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Circularity contract</a:t>
            </a:r>
          </a:p>
        </p:txBody>
      </p:sp>
      <p:sp>
        <p:nvSpPr>
          <p:cNvPr id="9" name="TextBox 8"/>
          <p:cNvSpPr txBox="1"/>
          <p:nvPr/>
        </p:nvSpPr>
        <p:spPr>
          <a:xfrm>
            <a:off x="914400"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A rule label is a function of its inputs, so those inputs can validate nothing. A code contract lists which fields the rules consumed and raises an error — not a warning — if validation ever touches one.</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Right-censoring handled</a:t>
            </a:r>
          </a:p>
        </p:txBody>
      </p:sp>
      <p:sp>
        <p:nvSpPr>
          <p:cNvPr id="12" name="TextBox 11"/>
          <p:cNvSpPr txBox="1"/>
          <p:nvPr/>
        </p:nvSpPr>
        <p:spPr>
          <a:xfrm>
            <a:off x="3557016"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Flights that haven't happened yet look exactly like churn. Outcome fields near the extract boundary are excluded, and the censoring curve is published so the exclusion is visible.</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Controls with teeth</a:t>
            </a:r>
          </a:p>
        </p:txBody>
      </p:sp>
      <p:sp>
        <p:nvSpPr>
          <p:cNvPr id="15" name="TextBox 14"/>
          <p:cNvSpPr txBox="1"/>
          <p:nvPr/>
        </p:nvSpPr>
        <p:spPr>
          <a:xfrm>
            <a:off x="6199632"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Random splits must score a coin-flip 0.50 before any real number is read. One instrument returned between 2 and 131 'components' on identical data — we retired it and said so.</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Rules asserted at build</a:t>
            </a:r>
          </a:p>
        </p:txBody>
      </p:sp>
      <p:sp>
        <p:nvSpPr>
          <p:cNvPr id="18" name="TextBox 17"/>
          <p:cNvSpPr txBox="1"/>
          <p:nvPr/>
        </p:nvSpPr>
        <p:spPr>
          <a:xfrm>
            <a:off x="8842248"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The six hard SME rules are checked against every build, reading PAL's own CSV. The check has already caught a draft that quietly violated two of them.</a:t>
            </a:r>
          </a:p>
        </p:txBody>
      </p:sp>
      <p:sp>
        <p:nvSpPr>
          <p:cNvPr id="19" name="TextBox 18"/>
          <p:cNvSpPr txBox="1"/>
          <p:nvPr/>
        </p:nvSpPr>
        <p:spPr>
          <a:xfrm>
            <a:off x="914400" y="5440680"/>
            <a:ext cx="10241280" cy="640080"/>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A retired instrument and a withdrawn number are not embarrassments. They're evidence the harness bites.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B7BDC"/>
              </a:gs>
              <a:gs pos="100000">
                <a:srgbClr val="0A2252"/>
              </a:gs>
            </a:gsLst>
            <a:lin scaled="0" ang="168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2194560"/>
            <a:ext cx="7315200" cy="274320"/>
          </a:xfrm>
          <a:prstGeom prst="rect">
            <a:avLst/>
          </a:prstGeom>
          <a:noFill/>
        </p:spPr>
        <p:txBody>
          <a:bodyPr wrap="square" anchor="t" lIns="0" rIns="0" tIns="0" bIns="0">
            <a:spAutoFit/>
          </a:bodyPr>
          <a:lstStyle/>
          <a:p>
            <a:pPr algn="l">
              <a:lnSpc>
                <a:spcPct val="108000"/>
              </a:lnSpc>
            </a:pPr>
            <a:r>
              <a:rPr sz="1200" b="1" spc="300">
                <a:solidFill>
                  <a:srgbClr val="E9F0FA"/>
                </a:solidFill>
                <a:latin typeface="Arial"/>
              </a:rPr>
              <a:t>DASHBOARD DEVELOPMENT  ·  JADD</a:t>
            </a:r>
          </a:p>
        </p:txBody>
      </p:sp>
      <p:sp>
        <p:nvSpPr>
          <p:cNvPr id="7" name="TextBox 6"/>
          <p:cNvSpPr txBox="1"/>
          <p:nvPr/>
        </p:nvSpPr>
        <p:spPr>
          <a:xfrm>
            <a:off x="914400" y="2560320"/>
            <a:ext cx="8686800" cy="1463040"/>
          </a:xfrm>
          <a:prstGeom prst="rect">
            <a:avLst/>
          </a:prstGeom>
          <a:noFill/>
        </p:spPr>
        <p:txBody>
          <a:bodyPr wrap="square" anchor="t" lIns="0" rIns="0" tIns="0" bIns="0">
            <a:spAutoFit/>
          </a:bodyPr>
          <a:lstStyle/>
          <a:p>
            <a:pPr algn="l">
              <a:lnSpc>
                <a:spcPct val="105000"/>
              </a:lnSpc>
            </a:pPr>
            <a:r>
              <a:rPr sz="3400" b="1">
                <a:solidFill>
                  <a:srgbClr val="FFFFFF"/>
                </a:solidFill>
                <a:latin typeface="Arial"/>
              </a:rPr>
              <a:t>The dashboards PAL's teams will actually open</a:t>
            </a:r>
          </a:p>
        </p:txBody>
      </p:sp>
      <p:sp>
        <p:nvSpPr>
          <p:cNvPr id="8" name="Rectangle 7"/>
          <p:cNvSpPr/>
          <p:nvPr/>
        </p:nvSpPr>
        <p:spPr>
          <a:xfrm>
            <a:off x="914400" y="5212080"/>
            <a:ext cx="3108960" cy="15240"/>
          </a:xfrm>
          <a:prstGeom prst="rect">
            <a:avLst/>
          </a:prstGeom>
          <a:solidFill>
            <a:srgbClr val="FFFFFF"/>
          </a:solidFill>
          <a:ln>
            <a:noFill/>
          </a:ln>
          <a:effectLst/>
        </p:spPr>
        <p:txBody>
          <a:bodyPr rtlCol="0" anchor="ctr"/>
          <a:lstStyle/>
          <a:p>
            <a:pPr algn="ctr"/>
          </a:p>
        </p:txBody>
      </p:sp>
      <p:sp>
        <p:nvSpPr>
          <p:cNvPr id="9" name="TextBox 8"/>
          <p:cNvSpPr txBox="1"/>
          <p:nvPr/>
        </p:nvSpPr>
        <p:spPr>
          <a:xfrm>
            <a:off x="91440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Segment scorecards</a:t>
            </a:r>
          </a:p>
        </p:txBody>
      </p:sp>
      <p:sp>
        <p:nvSpPr>
          <p:cNvPr id="10" name="Rectangle 9"/>
          <p:cNvSpPr/>
          <p:nvPr/>
        </p:nvSpPr>
        <p:spPr>
          <a:xfrm>
            <a:off x="4480560" y="5212080"/>
            <a:ext cx="3108960" cy="15240"/>
          </a:xfrm>
          <a:prstGeom prst="rect">
            <a:avLst/>
          </a:prstGeom>
          <a:solidFill>
            <a:srgbClr val="FFFFFF"/>
          </a:solidFill>
          <a:ln>
            <a:noFill/>
          </a:ln>
          <a:effectLst/>
        </p:spPr>
        <p:txBody>
          <a:bodyPr rtlCol="0" anchor="ctr"/>
          <a:lstStyle/>
          <a:p>
            <a:pPr algn="ctr"/>
          </a:p>
        </p:txBody>
      </p:sp>
      <p:sp>
        <p:nvSpPr>
          <p:cNvPr id="11" name="TextBox 10"/>
          <p:cNvSpPr txBox="1"/>
          <p:nvPr/>
        </p:nvSpPr>
        <p:spPr>
          <a:xfrm>
            <a:off x="448056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Volume and revenue mix</a:t>
            </a:r>
          </a:p>
        </p:txBody>
      </p:sp>
      <p:sp>
        <p:nvSpPr>
          <p:cNvPr id="12" name="Rectangle 11"/>
          <p:cNvSpPr/>
          <p:nvPr/>
        </p:nvSpPr>
        <p:spPr>
          <a:xfrm>
            <a:off x="8046720" y="5212080"/>
            <a:ext cx="3108960" cy="15240"/>
          </a:xfrm>
          <a:prstGeom prst="rect">
            <a:avLst/>
          </a:prstGeom>
          <a:solidFill>
            <a:srgbClr val="FFFFFF"/>
          </a:solidFill>
          <a:ln>
            <a:noFill/>
          </a:ln>
          <a:effectLst/>
        </p:spPr>
        <p:txBody>
          <a:bodyPr rtlCol="0" anchor="ctr"/>
          <a:lstStyle/>
          <a:p>
            <a:pPr algn="ctr"/>
          </a:p>
        </p:txBody>
      </p:sp>
      <p:sp>
        <p:nvSpPr>
          <p:cNvPr id="13" name="TextBox 12"/>
          <p:cNvSpPr txBox="1"/>
          <p:nvPr/>
        </p:nvSpPr>
        <p:spPr>
          <a:xfrm>
            <a:off x="804672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Persona cards</a:t>
            </a:r>
          </a:p>
        </p:txBody>
      </p:sp>
      <p:sp>
        <p:nvSpPr>
          <p:cNvPr id="14" name="Rectangle 13"/>
          <p:cNvSpPr/>
          <p:nvPr/>
        </p:nvSpPr>
        <p:spPr>
          <a:xfrm>
            <a:off x="914400" y="5779008"/>
            <a:ext cx="3108960" cy="15240"/>
          </a:xfrm>
          <a:prstGeom prst="rect">
            <a:avLst/>
          </a:prstGeom>
          <a:solidFill>
            <a:srgbClr val="FFFFFF"/>
          </a:solidFill>
          <a:ln>
            <a:noFill/>
          </a:ln>
          <a:effectLst/>
        </p:spPr>
        <p:txBody>
          <a:bodyPr rtlCol="0" anchor="ctr"/>
          <a:lstStyle/>
          <a:p>
            <a:pPr algn="ctr"/>
          </a:p>
        </p:txBody>
      </p:sp>
      <p:sp>
        <p:nvSpPr>
          <p:cNvPr id="15" name="TextBox 14"/>
          <p:cNvSpPr txBox="1"/>
          <p:nvPr/>
        </p:nvSpPr>
        <p:spPr>
          <a:xfrm>
            <a:off x="91440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Value bands</a:t>
            </a:r>
          </a:p>
        </p:txBody>
      </p:sp>
      <p:sp>
        <p:nvSpPr>
          <p:cNvPr id="16" name="Rectangle 15"/>
          <p:cNvSpPr/>
          <p:nvPr/>
        </p:nvSpPr>
        <p:spPr>
          <a:xfrm>
            <a:off x="4480560" y="5779008"/>
            <a:ext cx="3108960" cy="15240"/>
          </a:xfrm>
          <a:prstGeom prst="rect">
            <a:avLst/>
          </a:prstGeom>
          <a:solidFill>
            <a:srgbClr val="FFFFFF"/>
          </a:solidFill>
          <a:ln>
            <a:noFill/>
          </a:ln>
          <a:effectLst/>
        </p:spPr>
        <p:txBody>
          <a:bodyPr rtlCol="0" anchor="ctr"/>
          <a:lstStyle/>
          <a:p>
            <a:pPr algn="ctr"/>
          </a:p>
        </p:txBody>
      </p:sp>
      <p:sp>
        <p:nvSpPr>
          <p:cNvPr id="17" name="TextBox 16"/>
          <p:cNvSpPr txBox="1"/>
          <p:nvPr/>
        </p:nvSpPr>
        <p:spPr>
          <a:xfrm>
            <a:off x="448056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Short-lead flag</a:t>
            </a:r>
          </a:p>
        </p:txBody>
      </p:sp>
      <p:sp>
        <p:nvSpPr>
          <p:cNvPr id="18" name="Rectangle 17"/>
          <p:cNvSpPr/>
          <p:nvPr/>
        </p:nvSpPr>
        <p:spPr>
          <a:xfrm>
            <a:off x="8046720" y="5779008"/>
            <a:ext cx="3108960" cy="15240"/>
          </a:xfrm>
          <a:prstGeom prst="rect">
            <a:avLst/>
          </a:prstGeom>
          <a:solidFill>
            <a:srgbClr val="FFFFFF"/>
          </a:solidFill>
          <a:ln>
            <a:noFill/>
          </a:ln>
          <a:effectLst/>
        </p:spPr>
        <p:txBody>
          <a:bodyPr rtlCol="0" anchor="ctr"/>
          <a:lstStyle/>
          <a:p>
            <a:pPr algn="ctr"/>
          </a:p>
        </p:txBody>
      </p:sp>
      <p:sp>
        <p:nvSpPr>
          <p:cNvPr id="19" name="TextBox 18"/>
          <p:cNvSpPr txBox="1"/>
          <p:nvPr/>
        </p:nvSpPr>
        <p:spPr>
          <a:xfrm>
            <a:off x="804672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Drift monitor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DASHBOARD DEVELOPMENT  ·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38,116,259 rows in. 38,116,259 rows out.</a:t>
            </a:r>
          </a:p>
        </p:txBody>
      </p:sp>
      <p:sp>
        <p:nvSpPr>
          <p:cNvPr id="7" name="TextBox 6"/>
          <p:cNvSpPr txBox="1"/>
          <p:nvPr/>
        </p:nvSpPr>
        <p:spPr>
          <a:xfrm>
            <a:off x="914400" y="2148840"/>
            <a:ext cx="5577840" cy="210312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A star schema PAL's BI team can reconcile, not a notebook. </a:t>
            </a:r>
            <a:r>
              <a:rPr sz="1250" b="0">
                <a:solidFill>
                  <a:srgbClr val="0D2E5E"/>
                </a:solidFill>
                <a:latin typeface="Arial"/>
              </a:rPr>
              <a:t>The fact table carries 20.6M flight rows; a 1,835-row scorecard table feeds the KPI tiles so no visual ever aggregates twenty million rows to show one number.</a:t>
            </a:r>
          </a:p>
          <a:p>
            <a:pPr algn="l">
              <a:lnSpc>
                <a:spcPct val="128000"/>
              </a:lnSpc>
            </a:pPr>
            <a:r>
              <a:rPr sz="1250" b="0">
                <a:solidFill>
                  <a:srgbClr val="0D2E5E"/>
                </a:solidFill>
                <a:latin typeface="Arial"/>
              </a:rPr>
              <a:t/>
            </a:r>
          </a:p>
          <a:p>
            <a:pPr algn="l">
              <a:lnSpc>
                <a:spcPct val="128000"/>
              </a:lnSpc>
            </a:pPr>
            <a:r>
              <a:rPr sz="1250" b="0">
                <a:solidFill>
                  <a:srgbClr val="0D2E5E"/>
                </a:solidFill>
                <a:latin typeface="Arial"/>
              </a:rPr>
              <a:t>The persona dimension splits its columns three ways on purpose: measured behaviour (recomputed from the data on every build), editorial persona text (labelled as inference, not findings), and governance — every card shows its own </a:t>
            </a:r>
            <a:r>
              <a:rPr sz="1250" b="1">
                <a:solidFill>
                  <a:srgbClr val="0D2E5E"/>
                </a:solidFill>
                <a:latin typeface="Arial"/>
              </a:rPr>
              <a:t>Trust</a:t>
            </a:r>
            <a:r>
              <a:rPr sz="1250" b="0">
                <a:solidFill>
                  <a:srgbClr val="0D2E5E"/>
                </a:solidFill>
                <a:latin typeface="Arial"/>
              </a:rPr>
              <a:t> level and </a:t>
            </a:r>
            <a:r>
              <a:rPr sz="1250" b="1">
                <a:solidFill>
                  <a:srgbClr val="0D2E5E"/>
                </a:solidFill>
                <a:latin typeface="Arial"/>
              </a:rPr>
              <a:t>DataCaveat</a:t>
            </a:r>
            <a:r>
              <a:rPr sz="1250" b="0">
                <a:solidFill>
                  <a:srgbClr val="0D2E5E"/>
                </a:solidFill>
                <a:latin typeface="Arial"/>
              </a:rPr>
              <a:t>. Persona cards persuade; a cropped caveat is how a 0.03% segment becomes a boardroom fact.</a:t>
            </a:r>
          </a:p>
        </p:txBody>
      </p:sp>
      <p:sp>
        <p:nvSpPr>
          <p:cNvPr id="8" name="Rectangle 7"/>
          <p:cNvSpPr/>
          <p:nvPr/>
        </p:nvSpPr>
        <p:spPr>
          <a:xfrm>
            <a:off x="6858000" y="2148840"/>
            <a:ext cx="4434840" cy="3017520"/>
          </a:xfrm>
          <a:prstGeom prst="rect">
            <a:avLst/>
          </a:prstGeom>
          <a:solidFill>
            <a:srgbClr val="0D2E5E"/>
          </a:solidFill>
          <a:ln>
            <a:noFill/>
          </a:ln>
          <a:effectLst/>
        </p:spPr>
        <p:txBody>
          <a:bodyPr rtlCol="0" anchor="ctr"/>
          <a:lstStyle/>
          <a:p>
            <a:pPr algn="ctr"/>
          </a:p>
        </p:txBody>
      </p:sp>
      <p:sp>
        <p:nvSpPr>
          <p:cNvPr id="9" name="TextBox 8"/>
          <p:cNvSpPr txBox="1"/>
          <p:nvPr/>
        </p:nvSpPr>
        <p:spPr>
          <a:xfrm>
            <a:off x="7086600" y="2304288"/>
            <a:ext cx="402336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TRAPS WE DESIGNED OUT</a:t>
            </a:r>
          </a:p>
        </p:txBody>
      </p:sp>
      <p:sp>
        <p:nvSpPr>
          <p:cNvPr id="10" name="Rectangle 9"/>
          <p:cNvSpPr/>
          <p:nvPr/>
        </p:nvSpPr>
        <p:spPr>
          <a:xfrm>
            <a:off x="7086600" y="267004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232904" y="2651760"/>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Months still filling with bookings draw a fake cliff — trend visuals default to complete travel months only.</a:t>
            </a:r>
          </a:p>
        </p:txBody>
      </p:sp>
      <p:sp>
        <p:nvSpPr>
          <p:cNvPr id="12" name="Rectangle 11"/>
          <p:cNvSpPr/>
          <p:nvPr/>
        </p:nvSpPr>
        <p:spPr>
          <a:xfrm>
            <a:off x="7086600" y="3273552"/>
            <a:ext cx="40640" cy="237744"/>
          </a:xfrm>
          <a:prstGeom prst="rect">
            <a:avLst/>
          </a:prstGeom>
          <a:solidFill>
            <a:srgbClr val="35A0DB"/>
          </a:solidFill>
          <a:ln>
            <a:noFill/>
          </a:ln>
          <a:effectLst/>
        </p:spPr>
        <p:txBody>
          <a:bodyPr rtlCol="0" anchor="ctr"/>
          <a:lstStyle/>
          <a:p>
            <a:pPr algn="ctr"/>
          </a:p>
        </p:txBody>
      </p:sp>
      <p:sp>
        <p:nvSpPr>
          <p:cNvPr id="13" name="TextBox 12"/>
          <p:cNvSpPr txBox="1"/>
          <p:nvPr/>
        </p:nvSpPr>
        <p:spPr>
          <a:xfrm>
            <a:off x="7232904" y="3255264"/>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No stored percentages. A share is only valid in the filter context that computed it, so shares are DAX measures.</a:t>
            </a:r>
          </a:p>
        </p:txBody>
      </p:sp>
      <p:sp>
        <p:nvSpPr>
          <p:cNvPr id="14" name="Rectangle 13"/>
          <p:cNvSpPr/>
          <p:nvPr/>
        </p:nvSpPr>
        <p:spPr>
          <a:xfrm>
            <a:off x="7086600" y="3877056"/>
            <a:ext cx="40640" cy="237744"/>
          </a:xfrm>
          <a:prstGeom prst="rect">
            <a:avLst/>
          </a:prstGeom>
          <a:solidFill>
            <a:srgbClr val="35A0DB"/>
          </a:solidFill>
          <a:ln>
            <a:noFill/>
          </a:ln>
          <a:effectLst/>
        </p:spPr>
        <p:txBody>
          <a:bodyPr rtlCol="0" anchor="ctr"/>
          <a:lstStyle/>
          <a:p>
            <a:pPr algn="ctr"/>
          </a:p>
        </p:txBody>
      </p:sp>
      <p:sp>
        <p:nvSpPr>
          <p:cNvPr id="15" name="TextBox 14"/>
          <p:cNvSpPr txBox="1"/>
          <p:nvPr/>
        </p:nvSpPr>
        <p:spPr>
          <a:xfrm>
            <a:off x="7232904" y="3858768"/>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Flags are never NULL — a NULL silently drops rows from every filter and breaks reconciliation.</a:t>
            </a:r>
          </a:p>
        </p:txBody>
      </p:sp>
      <p:sp>
        <p:nvSpPr>
          <p:cNvPr id="16" name="Rectangle 15"/>
          <p:cNvSpPr/>
          <p:nvPr/>
        </p:nvSpPr>
        <p:spPr>
          <a:xfrm>
            <a:off x="7086600" y="4480560"/>
            <a:ext cx="40640" cy="237744"/>
          </a:xfrm>
          <a:prstGeom prst="rect">
            <a:avLst/>
          </a:prstGeom>
          <a:solidFill>
            <a:srgbClr val="35A0DB"/>
          </a:solidFill>
          <a:ln>
            <a:noFill/>
          </a:ln>
          <a:effectLst/>
        </p:spPr>
        <p:txBody>
          <a:bodyPr rtlCol="0" anchor="ctr"/>
          <a:lstStyle/>
          <a:p>
            <a:pPr algn="ctr"/>
          </a:p>
        </p:txBody>
      </p:sp>
      <p:sp>
        <p:nvSpPr>
          <p:cNvPr id="17" name="TextBox 16"/>
          <p:cNvSpPr txBox="1"/>
          <p:nvPr/>
        </p:nvSpPr>
        <p:spPr>
          <a:xfrm>
            <a:off x="7232904" y="4462272"/>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The build fails if the scorecard stops tying to the fact table. That's the regression test.</a:t>
            </a:r>
          </a:p>
        </p:txBody>
      </p:sp>
      <p:sp>
        <p:nvSpPr>
          <p:cNvPr id="18" name="TextBox 17"/>
          <p:cNvSpPr txBox="1"/>
          <p:nvPr/>
        </p:nvSpPr>
        <p:spPr>
          <a:xfrm>
            <a:off x="914400" y="5440680"/>
            <a:ext cx="10241280" cy="640080"/>
          </a:xfrm>
          <a:prstGeom prst="rect">
            <a:avLst/>
          </a:prstGeom>
          <a:noFill/>
        </p:spPr>
        <p:txBody>
          <a:bodyPr wrap="square" anchor="t" lIns="0" rIns="0" tIns="0" bIns="0">
            <a:spAutoFit/>
          </a:bodyPr>
          <a:lstStyle/>
          <a:p>
            <a:pPr algn="l">
              <a:lnSpc>
                <a:spcPct val="125000"/>
              </a:lnSpc>
            </a:pPr>
            <a:r>
              <a:rPr sz="1200" b="0">
                <a:solidFill>
                  <a:srgbClr val="6B7A8C"/>
                </a:solidFill>
                <a:latin typeface="Arial"/>
              </a:rPr>
              <a:t>One seam we won't hide: the .pbip project is generated by code, but saving it as .pbix takes one manual step in Power BI Desktop — Microsoft keeps that format proprietary.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Eleven segments, and an honest Unassigned at 2.47%</a:t>
            </a:r>
          </a:p>
        </p:txBody>
      </p:sp>
      <p:graphicFrame>
        <p:nvGraphicFramePr>
          <p:cNvPr id="7" name="Table 6"/>
          <p:cNvGraphicFramePr>
            <a:graphicFrameLocks noGrp="1"/>
          </p:cNvGraphicFramePr>
          <p:nvPr/>
        </p:nvGraphicFramePr>
        <p:xfrm>
          <a:off x="914400" y="2103120"/>
          <a:ext cx="10360152" cy="3200400"/>
        </p:xfrm>
        <a:graphic>
          <a:graphicData uri="http://schemas.openxmlformats.org/drawingml/2006/table">
            <a:tbl>
              <a:tblPr firstRow="1" bandRow="1">
                <a:tableStyleId>{5C22544A-7EE6-4342-B048-85BDC9FD1C3A}</a:tableStyleId>
              </a:tblPr>
              <a:tblGrid>
                <a:gridCol w="5120640"/>
                <a:gridCol w="1737360"/>
                <a:gridCol w="1737360"/>
                <a:gridCol w="1764792"/>
              </a:tblGrid>
              <a:tr h="320040">
                <a:tc>
                  <a:txBody>
                    <a:bodyPr/>
                    <a:lstStyle/>
                    <a:p>
                      <a:r>
                        <a:rPr sz="1150" b="1">
                          <a:solidFill>
                            <a:srgbClr val="FFFFFF"/>
                          </a:solidFill>
                          <a:latin typeface="Arial"/>
                        </a:rPr>
                        <a:t>Segment</a:t>
                      </a:r>
                    </a:p>
                  </a:txBody>
                  <a:tcPr marL="109728" marR="109728" marT="18288" marB="18288" anchor="ctr">
                    <a:solidFill>
                      <a:srgbClr val="0D2E5E"/>
                    </a:solidFill>
                  </a:tcPr>
                </a:tc>
                <a:tc>
                  <a:txBody>
                    <a:bodyPr/>
                    <a:lstStyle/>
                    <a:p>
                      <a:pPr algn="r"/>
                      <a:r>
                        <a:rPr sz="1150" b="1">
                          <a:solidFill>
                            <a:srgbClr val="FFFFFF"/>
                          </a:solidFill>
                          <a:latin typeface="Arial"/>
                        </a:rPr>
                        <a:t>Bookings</a:t>
                      </a:r>
                    </a:p>
                  </a:txBody>
                  <a:tcPr marL="109728" marR="109728" marT="18288" marB="18288" anchor="ctr">
                    <a:solidFill>
                      <a:srgbClr val="0D2E5E"/>
                    </a:solidFill>
                  </a:tcPr>
                </a:tc>
                <a:tc>
                  <a:txBody>
                    <a:bodyPr/>
                    <a:lstStyle/>
                    <a:p>
                      <a:pPr algn="r"/>
                      <a:r>
                        <a:rPr sz="1150" b="1">
                          <a:solidFill>
                            <a:srgbClr val="FFFFFF"/>
                          </a:solidFill>
                          <a:latin typeface="Arial"/>
                        </a:rPr>
                        <a:t>Revenue</a:t>
                      </a:r>
                    </a:p>
                  </a:txBody>
                  <a:tcPr marL="109728" marR="109728" marT="18288" marB="18288" anchor="ctr">
                    <a:solidFill>
                      <a:srgbClr val="0D2E5E"/>
                    </a:solidFill>
                  </a:tcPr>
                </a:tc>
                <a:tc>
                  <a:txBody>
                    <a:bodyPr/>
                    <a:lstStyle/>
                    <a:p>
                      <a:pPr algn="r"/>
                      <a:r>
                        <a:rPr sz="1150" b="1">
                          <a:solidFill>
                            <a:srgbClr val="FFFFFF"/>
                          </a:solidFill>
                          <a:latin typeface="Arial"/>
                        </a:rPr>
                        <a:t>Avg / booking</a:t>
                      </a:r>
                    </a:p>
                  </a:txBody>
                  <a:tcPr marL="109728" marR="109728" marT="18288" marB="18288" anchor="ctr">
                    <a:solidFill>
                      <a:srgbClr val="0D2E5E"/>
                    </a:solidFill>
                  </a:tcPr>
                </a:tc>
              </a:tr>
              <a:tr h="320040">
                <a:tc>
                  <a:txBody>
                    <a:bodyPr/>
                    <a:lstStyle/>
                    <a:p>
                      <a:r>
                        <a:rPr sz="1150" b="0">
                          <a:solidFill>
                            <a:srgbClr val="0D2E5E"/>
                          </a:solidFill>
                          <a:latin typeface="Arial"/>
                        </a:rPr>
                        <a:t>Leisure  (was Budget/Adventure)</a:t>
                      </a:r>
                    </a:p>
                  </a:txBody>
                  <a:tcPr marL="109728" marR="109728" marT="18288" marB="18288" anchor="ctr">
                    <a:solidFill>
                      <a:srgbClr val="EEF4FB"/>
                    </a:solidFill>
                  </a:tcPr>
                </a:tc>
                <a:tc>
                  <a:txBody>
                    <a:bodyPr/>
                    <a:lstStyle/>
                    <a:p>
                      <a:pPr algn="r"/>
                      <a:r>
                        <a:rPr sz="1150" b="0">
                          <a:solidFill>
                            <a:srgbClr val="0D2E5E"/>
                          </a:solidFill>
                          <a:latin typeface="Arial"/>
                        </a:rPr>
                        <a:t>50.6%</a:t>
                      </a:r>
                    </a:p>
                  </a:txBody>
                  <a:tcPr marL="109728" marR="109728" marT="18288" marB="18288" anchor="ctr">
                    <a:solidFill>
                      <a:srgbClr val="EEF4FB"/>
                    </a:solidFill>
                  </a:tcPr>
                </a:tc>
                <a:tc>
                  <a:txBody>
                    <a:bodyPr/>
                    <a:lstStyle/>
                    <a:p>
                      <a:pPr algn="r"/>
                      <a:r>
                        <a:rPr sz="1150" b="0">
                          <a:solidFill>
                            <a:srgbClr val="0D2E5E"/>
                          </a:solidFill>
                          <a:latin typeface="Arial"/>
                        </a:rPr>
                        <a:t>15.0%</a:t>
                      </a:r>
                    </a:p>
                  </a:txBody>
                  <a:tcPr marL="109728" marR="109728" marT="18288" marB="18288" anchor="ctr">
                    <a:solidFill>
                      <a:srgbClr val="EEF4FB"/>
                    </a:solidFill>
                  </a:tcPr>
                </a:tc>
                <a:tc>
                  <a:txBody>
                    <a:bodyPr/>
                    <a:lstStyle/>
                    <a:p>
                      <a:pPr algn="r"/>
                      <a:r>
                        <a:rPr sz="1150" b="0">
                          <a:solidFill>
                            <a:srgbClr val="0D2E5E"/>
                          </a:solidFill>
                          <a:latin typeface="Arial"/>
                        </a:rPr>
                        <a:t>$80</a:t>
                      </a:r>
                    </a:p>
                  </a:txBody>
                  <a:tcPr marL="109728" marR="109728" marT="18288" marB="18288" anchor="ctr">
                    <a:solidFill>
                      <a:srgbClr val="EEF4FB"/>
                    </a:solidFill>
                  </a:tcPr>
                </a:tc>
              </a:tr>
              <a:tr h="320040">
                <a:tc>
                  <a:txBody>
                    <a:bodyPr/>
                    <a:lstStyle/>
                    <a:p>
                      <a:r>
                        <a:rPr sz="1150" b="0">
                          <a:solidFill>
                            <a:srgbClr val="0D2E5E"/>
                          </a:solidFill>
                          <a:latin typeface="Arial"/>
                        </a:rPr>
                        <a:t>OFW / Migrant</a:t>
                      </a:r>
                    </a:p>
                  </a:txBody>
                  <a:tcPr marL="109728" marR="109728" marT="18288" marB="18288" anchor="ctr">
                    <a:solidFill>
                      <a:srgbClr val="FFFFFF"/>
                    </a:solidFill>
                  </a:tcPr>
                </a:tc>
                <a:tc>
                  <a:txBody>
                    <a:bodyPr/>
                    <a:lstStyle/>
                    <a:p>
                      <a:pPr algn="r"/>
                      <a:r>
                        <a:rPr sz="1150" b="0">
                          <a:solidFill>
                            <a:srgbClr val="0D2E5E"/>
                          </a:solidFill>
                          <a:latin typeface="Arial"/>
                        </a:rPr>
                        <a:t>17.1%</a:t>
                      </a:r>
                    </a:p>
                  </a:txBody>
                  <a:tcPr marL="109728" marR="109728" marT="18288" marB="18288" anchor="ctr">
                    <a:solidFill>
                      <a:srgbClr val="FFFFFF"/>
                    </a:solidFill>
                  </a:tcPr>
                </a:tc>
                <a:tc>
                  <a:txBody>
                    <a:bodyPr/>
                    <a:lstStyle/>
                    <a:p>
                      <a:pPr algn="r"/>
                      <a:r>
                        <a:rPr sz="1150" b="0">
                          <a:solidFill>
                            <a:srgbClr val="0D2E5E"/>
                          </a:solidFill>
                          <a:latin typeface="Arial"/>
                        </a:rPr>
                        <a:t>19.6%</a:t>
                      </a:r>
                    </a:p>
                  </a:txBody>
                  <a:tcPr marL="109728" marR="109728" marT="18288" marB="18288" anchor="ctr">
                    <a:solidFill>
                      <a:srgbClr val="FFFFFF"/>
                    </a:solidFill>
                  </a:tcPr>
                </a:tc>
                <a:tc>
                  <a:txBody>
                    <a:bodyPr/>
                    <a:lstStyle/>
                    <a:p>
                      <a:pPr algn="r"/>
                      <a:r>
                        <a:rPr sz="1150" b="0">
                          <a:solidFill>
                            <a:srgbClr val="0D2E5E"/>
                          </a:solidFill>
                          <a:latin typeface="Arial"/>
                        </a:rPr>
                        <a:t>$312</a:t>
                      </a:r>
                    </a:p>
                  </a:txBody>
                  <a:tcPr marL="109728" marR="109728" marT="18288" marB="18288" anchor="ctr">
                    <a:solidFill>
                      <a:srgbClr val="FFFFFF"/>
                    </a:solidFill>
                  </a:tcPr>
                </a:tc>
              </a:tr>
              <a:tr h="320040">
                <a:tc>
                  <a:txBody>
                    <a:bodyPr/>
                    <a:lstStyle/>
                    <a:p>
                      <a:r>
                        <a:rPr sz="1150" b="1">
                          <a:solidFill>
                            <a:srgbClr val="1B74E8"/>
                          </a:solidFill>
                          <a:latin typeface="Arial"/>
                        </a:rPr>
                        <a:t>Balikbayan / VFR</a:t>
                      </a:r>
                    </a:p>
                  </a:txBody>
                  <a:tcPr marL="109728" marR="109728" marT="18288" marB="18288" anchor="ctr">
                    <a:solidFill>
                      <a:srgbClr val="EEF4FB"/>
                    </a:solidFill>
                  </a:tcPr>
                </a:tc>
                <a:tc>
                  <a:txBody>
                    <a:bodyPr/>
                    <a:lstStyle/>
                    <a:p>
                      <a:pPr algn="r"/>
                      <a:r>
                        <a:rPr sz="1150" b="1">
                          <a:solidFill>
                            <a:srgbClr val="1B74E8"/>
                          </a:solidFill>
                          <a:latin typeface="Arial"/>
                        </a:rPr>
                        <a:t>12.5%</a:t>
                      </a:r>
                    </a:p>
                  </a:txBody>
                  <a:tcPr marL="109728" marR="109728" marT="18288" marB="18288" anchor="ctr">
                    <a:solidFill>
                      <a:srgbClr val="EEF4FB"/>
                    </a:solidFill>
                  </a:tcPr>
                </a:tc>
                <a:tc>
                  <a:txBody>
                    <a:bodyPr/>
                    <a:lstStyle/>
                    <a:p>
                      <a:pPr algn="r"/>
                      <a:r>
                        <a:rPr sz="1150" b="1">
                          <a:solidFill>
                            <a:srgbClr val="1B74E8"/>
                          </a:solidFill>
                          <a:latin typeface="Arial"/>
                        </a:rPr>
                        <a:t>28.4%</a:t>
                      </a:r>
                    </a:p>
                  </a:txBody>
                  <a:tcPr marL="109728" marR="109728" marT="18288" marB="18288" anchor="ctr">
                    <a:solidFill>
                      <a:srgbClr val="EEF4FB"/>
                    </a:solidFill>
                  </a:tcPr>
                </a:tc>
                <a:tc>
                  <a:txBody>
                    <a:bodyPr/>
                    <a:lstStyle/>
                    <a:p>
                      <a:pPr algn="r"/>
                      <a:r>
                        <a:rPr sz="1150" b="1">
                          <a:solidFill>
                            <a:srgbClr val="1B74E8"/>
                          </a:solidFill>
                          <a:latin typeface="Arial"/>
                        </a:rPr>
                        <a:t>$615</a:t>
                      </a:r>
                    </a:p>
                  </a:txBody>
                  <a:tcPr marL="109728" marR="109728" marT="18288" marB="18288" anchor="ctr">
                    <a:solidFill>
                      <a:srgbClr val="EEF4FB"/>
                    </a:solidFill>
                  </a:tcPr>
                </a:tc>
              </a:tr>
              <a:tr h="320040">
                <a:tc>
                  <a:txBody>
                    <a:bodyPr/>
                    <a:lstStyle/>
                    <a:p>
                      <a:r>
                        <a:rPr sz="1150" b="0">
                          <a:solidFill>
                            <a:srgbClr val="0D2E5E"/>
                          </a:solidFill>
                          <a:latin typeface="Arial"/>
                        </a:rPr>
                        <a:t>Outbound International Leisure  · new</a:t>
                      </a:r>
                    </a:p>
                  </a:txBody>
                  <a:tcPr marL="109728" marR="109728" marT="18288" marB="18288" anchor="ctr">
                    <a:solidFill>
                      <a:srgbClr val="FFFFFF"/>
                    </a:solidFill>
                  </a:tcPr>
                </a:tc>
                <a:tc>
                  <a:txBody>
                    <a:bodyPr/>
                    <a:lstStyle/>
                    <a:p>
                      <a:pPr algn="r"/>
                      <a:r>
                        <a:rPr sz="1150" b="0">
                          <a:solidFill>
                            <a:srgbClr val="0D2E5E"/>
                          </a:solidFill>
                          <a:latin typeface="Arial"/>
                        </a:rPr>
                        <a:t>9.5%</a:t>
                      </a:r>
                    </a:p>
                  </a:txBody>
                  <a:tcPr marL="109728" marR="109728" marT="18288" marB="18288" anchor="ctr">
                    <a:solidFill>
                      <a:srgbClr val="FFFFFF"/>
                    </a:solidFill>
                  </a:tcPr>
                </a:tc>
                <a:tc>
                  <a:txBody>
                    <a:bodyPr/>
                    <a:lstStyle/>
                    <a:p>
                      <a:pPr algn="r"/>
                      <a:r>
                        <a:rPr sz="1150" b="0">
                          <a:solidFill>
                            <a:srgbClr val="0D2E5E"/>
                          </a:solidFill>
                          <a:latin typeface="Arial"/>
                        </a:rPr>
                        <a:t>14.0%</a:t>
                      </a:r>
                    </a:p>
                  </a:txBody>
                  <a:tcPr marL="109728" marR="109728" marT="18288" marB="18288" anchor="ctr">
                    <a:solidFill>
                      <a:srgbClr val="FFFFFF"/>
                    </a:solidFill>
                  </a:tcPr>
                </a:tc>
                <a:tc>
                  <a:txBody>
                    <a:bodyPr/>
                    <a:lstStyle/>
                    <a:p>
                      <a:pPr algn="r"/>
                      <a:r>
                        <a:rPr sz="1150" b="0">
                          <a:solidFill>
                            <a:srgbClr val="0D2E5E"/>
                          </a:solidFill>
                          <a:latin typeface="Arial"/>
                        </a:rPr>
                        <a:t>$398</a:t>
                      </a:r>
                    </a:p>
                  </a:txBody>
                  <a:tcPr marL="109728" marR="109728" marT="18288" marB="18288" anchor="ctr">
                    <a:solidFill>
                      <a:srgbClr val="FFFFFF"/>
                    </a:solidFill>
                  </a:tcPr>
                </a:tc>
              </a:tr>
              <a:tr h="320040">
                <a:tc>
                  <a:txBody>
                    <a:bodyPr/>
                    <a:lstStyle/>
                    <a:p>
                      <a:r>
                        <a:rPr sz="1150" b="0">
                          <a:solidFill>
                            <a:srgbClr val="0D2E5E"/>
                          </a:solidFill>
                          <a:latin typeface="Arial"/>
                        </a:rPr>
                        <a:t>Corporate</a:t>
                      </a:r>
                    </a:p>
                  </a:txBody>
                  <a:tcPr marL="109728" marR="109728" marT="18288" marB="18288" anchor="ctr">
                    <a:solidFill>
                      <a:srgbClr val="EEF4FB"/>
                    </a:solidFill>
                  </a:tcPr>
                </a:tc>
                <a:tc>
                  <a:txBody>
                    <a:bodyPr/>
                    <a:lstStyle/>
                    <a:p>
                      <a:pPr algn="r"/>
                      <a:r>
                        <a:rPr sz="1150" b="0">
                          <a:solidFill>
                            <a:srgbClr val="0D2E5E"/>
                          </a:solidFill>
                          <a:latin typeface="Arial"/>
                        </a:rPr>
                        <a:t>5.1%</a:t>
                      </a:r>
                    </a:p>
                  </a:txBody>
                  <a:tcPr marL="109728" marR="109728" marT="18288" marB="18288" anchor="ctr">
                    <a:solidFill>
                      <a:srgbClr val="EEF4FB"/>
                    </a:solidFill>
                  </a:tcPr>
                </a:tc>
                <a:tc>
                  <a:txBody>
                    <a:bodyPr/>
                    <a:lstStyle/>
                    <a:p>
                      <a:pPr algn="r"/>
                      <a:r>
                        <a:rPr sz="1150" b="0">
                          <a:solidFill>
                            <a:srgbClr val="0D2E5E"/>
                          </a:solidFill>
                          <a:latin typeface="Arial"/>
                        </a:rPr>
                        <a:t>8.7%</a:t>
                      </a:r>
                    </a:p>
                  </a:txBody>
                  <a:tcPr marL="109728" marR="109728" marT="18288" marB="18288" anchor="ctr">
                    <a:solidFill>
                      <a:srgbClr val="EEF4FB"/>
                    </a:solidFill>
                  </a:tcPr>
                </a:tc>
                <a:tc>
                  <a:txBody>
                    <a:bodyPr/>
                    <a:lstStyle/>
                    <a:p>
                      <a:pPr algn="r"/>
                      <a:r>
                        <a:rPr sz="1150" b="0">
                          <a:solidFill>
                            <a:srgbClr val="0D2E5E"/>
                          </a:solidFill>
                          <a:latin typeface="Arial"/>
                        </a:rPr>
                        <a:t>$460</a:t>
                      </a:r>
                    </a:p>
                  </a:txBody>
                  <a:tcPr marL="109728" marR="109728" marT="18288" marB="18288" anchor="ctr">
                    <a:solidFill>
                      <a:srgbClr val="EEF4FB"/>
                    </a:solidFill>
                  </a:tcPr>
                </a:tc>
              </a:tr>
              <a:tr h="320040">
                <a:tc>
                  <a:txBody>
                    <a:bodyPr/>
                    <a:lstStyle/>
                    <a:p>
                      <a:r>
                        <a:rPr sz="1150" b="0">
                          <a:solidFill>
                            <a:srgbClr val="0D2E5E"/>
                          </a:solidFill>
                          <a:latin typeface="Arial"/>
                        </a:rPr>
                        <a:t>Premium Bleisure</a:t>
                      </a:r>
                    </a:p>
                  </a:txBody>
                  <a:tcPr marL="109728" marR="109728" marT="18288" marB="18288" anchor="ctr">
                    <a:solidFill>
                      <a:srgbClr val="FFFFFF"/>
                    </a:solidFill>
                  </a:tcPr>
                </a:tc>
                <a:tc>
                  <a:txBody>
                    <a:bodyPr/>
                    <a:lstStyle/>
                    <a:p>
                      <a:pPr algn="r"/>
                      <a:r>
                        <a:rPr sz="1150" b="0">
                          <a:solidFill>
                            <a:srgbClr val="0D2E5E"/>
                          </a:solidFill>
                          <a:latin typeface="Arial"/>
                        </a:rPr>
                        <a:t>1.5%</a:t>
                      </a:r>
                    </a:p>
                  </a:txBody>
                  <a:tcPr marL="109728" marR="109728" marT="18288" marB="18288" anchor="ctr">
                    <a:solidFill>
                      <a:srgbClr val="FFFFFF"/>
                    </a:solidFill>
                  </a:tcPr>
                </a:tc>
                <a:tc>
                  <a:txBody>
                    <a:bodyPr/>
                    <a:lstStyle/>
                    <a:p>
                      <a:pPr algn="r"/>
                      <a:r>
                        <a:rPr sz="1150" b="0">
                          <a:solidFill>
                            <a:srgbClr val="0D2E5E"/>
                          </a:solidFill>
                          <a:latin typeface="Arial"/>
                        </a:rPr>
                        <a:t>6.6%</a:t>
                      </a:r>
                    </a:p>
                  </a:txBody>
                  <a:tcPr marL="109728" marR="109728" marT="18288" marB="18288" anchor="ctr">
                    <a:solidFill>
                      <a:srgbClr val="FFFFFF"/>
                    </a:solidFill>
                  </a:tcPr>
                </a:tc>
                <a:tc>
                  <a:txBody>
                    <a:bodyPr/>
                    <a:lstStyle/>
                    <a:p>
                      <a:pPr algn="r"/>
                      <a:r>
                        <a:rPr sz="1150" b="0">
                          <a:solidFill>
                            <a:srgbClr val="0D2E5E"/>
                          </a:solidFill>
                          <a:latin typeface="Arial"/>
                        </a:rPr>
                        <a:t>$1,188</a:t>
                      </a:r>
                    </a:p>
                  </a:txBody>
                  <a:tcPr marL="109728" marR="109728" marT="18288" marB="18288" anchor="ctr">
                    <a:solidFill>
                      <a:srgbClr val="FFFFFF"/>
                    </a:solidFill>
                  </a:tcPr>
                </a:tc>
              </a:tr>
              <a:tr h="320040">
                <a:tc>
                  <a:txBody>
                    <a:bodyPr/>
                    <a:lstStyle/>
                    <a:p>
                      <a:r>
                        <a:rPr sz="1150" b="1">
                          <a:solidFill>
                            <a:srgbClr val="1B74E8"/>
                          </a:solidFill>
                          <a:latin typeface="Arial"/>
                        </a:rPr>
                        <a:t>Ultra Wealthy Leisure  · new</a:t>
                      </a:r>
                    </a:p>
                  </a:txBody>
                  <a:tcPr marL="109728" marR="109728" marT="18288" marB="18288" anchor="ctr">
                    <a:solidFill>
                      <a:srgbClr val="EEF4FB"/>
                    </a:solidFill>
                  </a:tcPr>
                </a:tc>
                <a:tc>
                  <a:txBody>
                    <a:bodyPr/>
                    <a:lstStyle/>
                    <a:p>
                      <a:pPr algn="r"/>
                      <a:r>
                        <a:rPr sz="1150" b="1">
                          <a:solidFill>
                            <a:srgbClr val="1B74E8"/>
                          </a:solidFill>
                          <a:latin typeface="Arial"/>
                        </a:rPr>
                        <a:t>0.7%</a:t>
                      </a:r>
                    </a:p>
                  </a:txBody>
                  <a:tcPr marL="109728" marR="109728" marT="18288" marB="18288" anchor="ctr">
                    <a:solidFill>
                      <a:srgbClr val="EEF4FB"/>
                    </a:solidFill>
                  </a:tcPr>
                </a:tc>
                <a:tc>
                  <a:txBody>
                    <a:bodyPr/>
                    <a:lstStyle/>
                    <a:p>
                      <a:pPr algn="r"/>
                      <a:r>
                        <a:rPr sz="1150" b="1">
                          <a:solidFill>
                            <a:srgbClr val="1B74E8"/>
                          </a:solidFill>
                          <a:latin typeface="Arial"/>
                        </a:rPr>
                        <a:t>5.0%</a:t>
                      </a:r>
                    </a:p>
                  </a:txBody>
                  <a:tcPr marL="109728" marR="109728" marT="18288" marB="18288" anchor="ctr">
                    <a:solidFill>
                      <a:srgbClr val="EEF4FB"/>
                    </a:solidFill>
                  </a:tcPr>
                </a:tc>
                <a:tc>
                  <a:txBody>
                    <a:bodyPr/>
                    <a:lstStyle/>
                    <a:p>
                      <a:pPr algn="r"/>
                      <a:r>
                        <a:rPr sz="1150" b="1">
                          <a:solidFill>
                            <a:srgbClr val="1B74E8"/>
                          </a:solidFill>
                          <a:latin typeface="Arial"/>
                        </a:rPr>
                        <a:t>$1,968</a:t>
                      </a:r>
                    </a:p>
                  </a:txBody>
                  <a:tcPr marL="109728" marR="109728" marT="18288" marB="18288" anchor="ctr">
                    <a:solidFill>
                      <a:srgbClr val="EEF4FB"/>
                    </a:solidFill>
                  </a:tcPr>
                </a:tc>
              </a:tr>
              <a:tr h="320040">
                <a:tc>
                  <a:txBody>
                    <a:bodyPr/>
                    <a:lstStyle/>
                    <a:p>
                      <a:r>
                        <a:rPr sz="1150" b="0">
                          <a:solidFill>
                            <a:srgbClr val="0D2E5E"/>
                          </a:solidFill>
                          <a:latin typeface="Arial"/>
                        </a:rPr>
                        <a:t>Pilgrimage · Intl. Student · MICE · Mabuhay</a:t>
                      </a:r>
                    </a:p>
                  </a:txBody>
                  <a:tcPr marL="109728" marR="109728" marT="18288" marB="18288" anchor="ctr">
                    <a:solidFill>
                      <a:srgbClr val="FFFFFF"/>
                    </a:solidFill>
                  </a:tcPr>
                </a:tc>
                <a:tc>
                  <a:txBody>
                    <a:bodyPr/>
                    <a:lstStyle/>
                    <a:p>
                      <a:pPr algn="r"/>
                      <a:r>
                        <a:rPr sz="1150" b="0">
                          <a:solidFill>
                            <a:srgbClr val="0D2E5E"/>
                          </a:solidFill>
                          <a:latin typeface="Arial"/>
                        </a:rPr>
                        <a:t>0.5%</a:t>
                      </a:r>
                    </a:p>
                  </a:txBody>
                  <a:tcPr marL="109728" marR="109728" marT="18288" marB="18288" anchor="ctr">
                    <a:solidFill>
                      <a:srgbClr val="FFFFFF"/>
                    </a:solidFill>
                  </a:tcPr>
                </a:tc>
                <a:tc>
                  <a:txBody>
                    <a:bodyPr/>
                    <a:lstStyle/>
                    <a:p>
                      <a:pPr algn="r"/>
                      <a:r>
                        <a:rPr sz="1150" b="0">
                          <a:solidFill>
                            <a:srgbClr val="0D2E5E"/>
                          </a:solidFill>
                          <a:latin typeface="Arial"/>
                        </a:rPr>
                        <a:t>1.2%</a:t>
                      </a:r>
                    </a:p>
                  </a:txBody>
                  <a:tcPr marL="109728" marR="109728" marT="18288" marB="18288" anchor="ctr">
                    <a:solidFill>
                      <a:srgbClr val="FFFFFF"/>
                    </a:solidFill>
                  </a:tcPr>
                </a:tc>
                <a:tc>
                  <a:txBody>
                    <a:bodyPr/>
                    <a:lstStyle/>
                    <a:p>
                      <a:pPr algn="r"/>
                      <a:r>
                        <a:rPr sz="1150" b="0">
                          <a:solidFill>
                            <a:srgbClr val="0D2E5E"/>
                          </a:solidFill>
                          <a:latin typeface="Arial"/>
                        </a:rPr>
                        <a:t>—</a:t>
                      </a:r>
                    </a:p>
                  </a:txBody>
                  <a:tcPr marL="109728" marR="109728" marT="18288" marB="18288" anchor="ctr">
                    <a:solidFill>
                      <a:srgbClr val="FFFFFF"/>
                    </a:solidFill>
                  </a:tcPr>
                </a:tc>
              </a:tr>
              <a:tr h="320040">
                <a:tc>
                  <a:txBody>
                    <a:bodyPr/>
                    <a:lstStyle/>
                    <a:p>
                      <a:r>
                        <a:rPr sz="1150" b="0">
                          <a:solidFill>
                            <a:srgbClr val="0D2E5E"/>
                          </a:solidFill>
                          <a:latin typeface="Arial"/>
                        </a:rPr>
                        <a:t>Unassigned</a:t>
                      </a:r>
                    </a:p>
                  </a:txBody>
                  <a:tcPr marL="109728" marR="109728" marT="18288" marB="18288" anchor="ctr">
                    <a:solidFill>
                      <a:srgbClr val="EEF4FB"/>
                    </a:solidFill>
                  </a:tcPr>
                </a:tc>
                <a:tc>
                  <a:txBody>
                    <a:bodyPr/>
                    <a:lstStyle/>
                    <a:p>
                      <a:pPr algn="r"/>
                      <a:r>
                        <a:rPr sz="1150" b="0">
                          <a:solidFill>
                            <a:srgbClr val="0D2E5E"/>
                          </a:solidFill>
                          <a:latin typeface="Arial"/>
                        </a:rPr>
                        <a:t>2.5%</a:t>
                      </a:r>
                    </a:p>
                  </a:txBody>
                  <a:tcPr marL="109728" marR="109728" marT="18288" marB="18288" anchor="ctr">
                    <a:solidFill>
                      <a:srgbClr val="EEF4FB"/>
                    </a:solidFill>
                  </a:tcPr>
                </a:tc>
                <a:tc>
                  <a:txBody>
                    <a:bodyPr/>
                    <a:lstStyle/>
                    <a:p>
                      <a:pPr algn="r"/>
                      <a:r>
                        <a:rPr sz="1150" b="0">
                          <a:solidFill>
                            <a:srgbClr val="0D2E5E"/>
                          </a:solidFill>
                          <a:latin typeface="Arial"/>
                        </a:rPr>
                        <a:t>1.6%</a:t>
                      </a:r>
                    </a:p>
                  </a:txBody>
                  <a:tcPr marL="109728" marR="109728" marT="18288" marB="18288" anchor="ctr">
                    <a:solidFill>
                      <a:srgbClr val="EEF4FB"/>
                    </a:solidFill>
                  </a:tcPr>
                </a:tc>
                <a:tc>
                  <a:txBody>
                    <a:bodyPr/>
                    <a:lstStyle/>
                    <a:p>
                      <a:pPr algn="r"/>
                      <a:r>
                        <a:rPr sz="1150" b="0">
                          <a:solidFill>
                            <a:srgbClr val="0D2E5E"/>
                          </a:solidFill>
                          <a:latin typeface="Arial"/>
                        </a:rPr>
                        <a:t>$177</a:t>
                      </a:r>
                    </a:p>
                  </a:txBody>
                  <a:tcPr marL="109728" marR="109728" marT="18288" marB="18288" anchor="ctr">
                    <a:solidFill>
                      <a:srgbClr val="EEF4FB"/>
                    </a:solidFill>
                  </a:tcPr>
                </a:tc>
              </a:tr>
            </a:tbl>
          </a:graphicData>
        </a:graphic>
      </p:graphicFrame>
      <p:sp>
        <p:nvSpPr>
          <p:cNvPr id="8" name="TextBox 7"/>
          <p:cNvSpPr txBox="1"/>
          <p:nvPr/>
        </p:nvSpPr>
        <p:spPr>
          <a:xfrm>
            <a:off x="914400" y="5486400"/>
            <a:ext cx="10241280" cy="822960"/>
          </a:xfrm>
          <a:prstGeom prst="rect">
            <a:avLst/>
          </a:prstGeom>
          <a:noFill/>
        </p:spPr>
        <p:txBody>
          <a:bodyPr wrap="square" anchor="t" lIns="0" rIns="0" tIns="0" bIns="0">
            <a:spAutoFit/>
          </a:bodyPr>
          <a:lstStyle/>
          <a:p>
            <a:pPr algn="l">
              <a:lnSpc>
                <a:spcPct val="125000"/>
              </a:lnSpc>
            </a:pPr>
            <a:r>
              <a:rPr sz="1200" b="1">
                <a:solidFill>
                  <a:srgbClr val="0D2E5E"/>
                </a:solidFill>
                <a:latin typeface="Arial"/>
              </a:rPr>
              <a:t>Riding alongside the segments: </a:t>
            </a:r>
            <a:r>
              <a:rPr sz="1200" b="0">
                <a:solidFill>
                  <a:srgbClr val="0D2E5E"/>
                </a:solidFill>
                <a:latin typeface="Arial"/>
              </a:rPr>
              <a:t>a short-lead flag on 19.3% of bookings, and value bands (Budget 63% · Mid 31% · Premium 6%). Retired: Family — every booking in it was just 'a group nothing else claimed' — and Digital Nomad, which anonymous data can never see.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Half the bookings earn a seventh of the money</a:t>
            </a:r>
          </a:p>
        </p:txBody>
      </p:sp>
      <p:pic>
        <p:nvPicPr>
          <p:cNvPr id="7" name="Picture 6" descr="c1_share_vs_revenue.png"/>
          <p:cNvPicPr>
            <a:picLocks noChangeAspect="1"/>
          </p:cNvPicPr>
          <p:nvPr/>
        </p:nvPicPr>
        <p:blipFill>
          <a:blip r:embed="rId3"/>
          <a:stretch>
            <a:fillRect/>
          </a:stretch>
        </p:blipFill>
        <p:spPr>
          <a:xfrm>
            <a:off x="914400" y="1965960"/>
            <a:ext cx="10360152" cy="4208812"/>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Aggregated in DuckDB over all 22,911,450 bookings on every build, so the chart cannot drift from the model. Where headcount and money disagree this much, a segment-blind route review mis-ranks routes — the dashboard now shows both lenses.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each segment buys, and how late they book</a:t>
            </a:r>
          </a:p>
        </p:txBody>
      </p:sp>
      <p:sp>
        <p:nvSpPr>
          <p:cNvPr id="7" name="TextBox 6"/>
          <p:cNvSpPr txBox="1"/>
          <p:nvPr/>
        </p:nvSpPr>
        <p:spPr>
          <a:xfrm>
            <a:off x="914400" y="2057400"/>
            <a:ext cx="512064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FAREBRAND VALUE-BAND MIX, %</a:t>
            </a:r>
          </a:p>
        </p:txBody>
      </p:sp>
      <p:pic>
        <p:nvPicPr>
          <p:cNvPr id="8" name="Picture 7" descr="c6_value_bands.png"/>
          <p:cNvPicPr>
            <a:picLocks noChangeAspect="1"/>
          </p:cNvPicPr>
          <p:nvPr/>
        </p:nvPicPr>
        <p:blipFill>
          <a:blip r:embed="rId3"/>
          <a:stretch>
            <a:fillRect/>
          </a:stretch>
        </p:blipFill>
        <p:spPr>
          <a:xfrm>
            <a:off x="914400" y="2331720"/>
            <a:ext cx="5074920" cy="3154680"/>
          </a:xfrm>
          <a:prstGeom prst="rect">
            <a:avLst/>
          </a:prstGeom>
        </p:spPr>
      </p:pic>
      <p:sp>
        <p:nvSpPr>
          <p:cNvPr id="9" name="TextBox 8"/>
          <p:cNvSpPr txBox="1"/>
          <p:nvPr/>
        </p:nvSpPr>
        <p:spPr>
          <a:xfrm>
            <a:off x="914400" y="5623560"/>
            <a:ext cx="512064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Premium cabins don't make premium segments. </a:t>
            </a:r>
            <a:r>
              <a:rPr sz="1050" b="0">
                <a:solidFill>
                  <a:srgbClr val="0D2E5E"/>
                </a:solidFill>
                <a:latin typeface="Arial"/>
              </a:rPr>
              <a:t>Balikbayan out-earns every big segment from 70% Budget-band fares — its value is route length and season, not cabin. The two segments that are ~95% Premium are partly defined by fare tier, so read their bars as rule echo.</a:t>
            </a:r>
          </a:p>
        </p:txBody>
      </p:sp>
      <p:sp>
        <p:nvSpPr>
          <p:cNvPr id="10" name="TextBox 9"/>
          <p:cNvSpPr txBox="1"/>
          <p:nvPr/>
        </p:nvSpPr>
        <p:spPr>
          <a:xfrm>
            <a:off x="6355080" y="2057400"/>
            <a:ext cx="49377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SHORT-LEAD RATE BY SEGMENT, %</a:t>
            </a:r>
          </a:p>
        </p:txBody>
      </p:sp>
      <p:pic>
        <p:nvPicPr>
          <p:cNvPr id="11" name="Picture 10" descr="c7_short_lead.png"/>
          <p:cNvPicPr>
            <a:picLocks noChangeAspect="1"/>
          </p:cNvPicPr>
          <p:nvPr/>
        </p:nvPicPr>
        <p:blipFill>
          <a:blip r:embed="rId4"/>
          <a:stretch>
            <a:fillRect/>
          </a:stretch>
        </p:blipFill>
        <p:spPr>
          <a:xfrm>
            <a:off x="6355080" y="2331720"/>
            <a:ext cx="4937760" cy="3069418"/>
          </a:xfrm>
          <a:prstGeom prst="rect">
            <a:avLst/>
          </a:prstGeom>
        </p:spPr>
      </p:pic>
      <p:sp>
        <p:nvSpPr>
          <p:cNvPr id="12" name="TextBox 11"/>
          <p:cNvSpPr txBox="1"/>
          <p:nvPr/>
        </p:nvSpPr>
        <p:spPr>
          <a:xfrm>
            <a:off x="6355080" y="5623560"/>
            <a:ext cx="493776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Short-lead is not a leisure quirk. </a:t>
            </a:r>
            <a:r>
              <a:rPr sz="1050" b="0">
                <a:solidFill>
                  <a:srgbClr val="0D2E5E"/>
                </a:solidFill>
                <a:latin typeface="Arial"/>
              </a:rPr>
              <a:t>OFW books later than the book average — support tickets, not promo-chasing — while Balikbayan plans furthest ahead at 6.8%. That contrast is a pricing lever the old taxonomy couldn't see.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real change is 23.4% — the rest is mostly a rename</a:t>
            </a:r>
          </a:p>
        </p:txBody>
      </p:sp>
      <p:sp>
        <p:nvSpPr>
          <p:cNvPr id="7" name="Rectangle 6"/>
          <p:cNvSpPr/>
          <p:nvPr/>
        </p:nvSpPr>
        <p:spPr>
          <a:xfrm>
            <a:off x="914400" y="2194560"/>
            <a:ext cx="3337560" cy="1645920"/>
          </a:xfrm>
          <a:prstGeom prst="rect">
            <a:avLst/>
          </a:prstGeom>
          <a:solidFill>
            <a:srgbClr val="0D2E5E"/>
          </a:solidFill>
          <a:ln>
            <a:noFill/>
          </a:ln>
          <a:effectLst/>
        </p:spPr>
        <p:txBody>
          <a:bodyPr rtlCol="0" anchor="ctr"/>
          <a:lstStyle/>
          <a:p>
            <a:pPr algn="ctr"/>
          </a:p>
        </p:txBody>
      </p:sp>
      <p:sp>
        <p:nvSpPr>
          <p:cNvPr id="8" name="TextBox 7"/>
          <p:cNvSpPr txBox="1"/>
          <p:nvPr/>
        </p:nvSpPr>
        <p:spPr>
          <a:xfrm>
            <a:off x="1115568"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74%</a:t>
            </a:r>
          </a:p>
        </p:txBody>
      </p:sp>
      <p:sp>
        <p:nvSpPr>
          <p:cNvPr id="9" name="TextBox 8"/>
          <p:cNvSpPr txBox="1"/>
          <p:nvPr/>
        </p:nvSpPr>
        <p:spPr>
          <a:xfrm>
            <a:off x="1115568"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drop in Unassigned — from 9.58% to 2.47%, our largest known gap closed</a:t>
            </a:r>
          </a:p>
        </p:txBody>
      </p:sp>
      <p:sp>
        <p:nvSpPr>
          <p:cNvPr id="10" name="Rectangle 9"/>
          <p:cNvSpPr/>
          <p:nvPr/>
        </p:nvSpPr>
        <p:spPr>
          <a:xfrm>
            <a:off x="4443984" y="2194560"/>
            <a:ext cx="3337560" cy="164592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4645152"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5.36M</a:t>
            </a:r>
          </a:p>
        </p:txBody>
      </p:sp>
      <p:sp>
        <p:nvSpPr>
          <p:cNvPr id="12" name="TextBox 11"/>
          <p:cNvSpPr txBox="1"/>
          <p:nvPr/>
        </p:nvSpPr>
        <p:spPr>
          <a:xfrm>
            <a:off x="4645152"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bookings genuinely reclassified under the approved taxonomy</a:t>
            </a:r>
          </a:p>
        </p:txBody>
      </p:sp>
      <p:sp>
        <p:nvSpPr>
          <p:cNvPr id="13" name="Rectangle 12"/>
          <p:cNvSpPr/>
          <p:nvPr/>
        </p:nvSpPr>
        <p:spPr>
          <a:xfrm>
            <a:off x="7973568" y="2194560"/>
            <a:ext cx="3337560" cy="164592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8174736"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4.41M</a:t>
            </a:r>
          </a:p>
        </p:txBody>
      </p:sp>
      <p:sp>
        <p:nvSpPr>
          <p:cNvPr id="15" name="TextBox 14"/>
          <p:cNvSpPr txBox="1"/>
          <p:nvPr/>
        </p:nvSpPr>
        <p:spPr>
          <a:xfrm>
            <a:off x="8174736"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short-lead bookings the flag now sees — the old segment caught only 2.95M</a:t>
            </a:r>
          </a:p>
        </p:txBody>
      </p:sp>
      <p:sp>
        <p:nvSpPr>
          <p:cNvPr id="16" name="TextBox 15"/>
          <p:cNvSpPr txBox="1"/>
          <p:nvPr/>
        </p:nvSpPr>
        <p:spPr>
          <a:xfrm>
            <a:off x="914400" y="3977639"/>
            <a:ext cx="53949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THE FLAG VS THE SEGMENT IT REPLACED</a:t>
            </a:r>
          </a:p>
        </p:txBody>
      </p:sp>
      <p:pic>
        <p:nvPicPr>
          <p:cNvPr id="17" name="Picture 16" descr="c5_flag_vs_segment.png"/>
          <p:cNvPicPr>
            <a:picLocks noChangeAspect="1"/>
          </p:cNvPicPr>
          <p:nvPr/>
        </p:nvPicPr>
        <p:blipFill>
          <a:blip r:embed="rId3"/>
          <a:stretch>
            <a:fillRect/>
          </a:stretch>
        </p:blipFill>
        <p:spPr>
          <a:xfrm>
            <a:off x="914400" y="4279392"/>
            <a:ext cx="5212080" cy="1737360"/>
          </a:xfrm>
          <a:prstGeom prst="rect">
            <a:avLst/>
          </a:prstGeom>
        </p:spPr>
      </p:pic>
      <p:sp>
        <p:nvSpPr>
          <p:cNvPr id="18" name="TextBox 17"/>
          <p:cNvSpPr txBox="1"/>
          <p:nvPr/>
        </p:nvSpPr>
        <p:spPr>
          <a:xfrm>
            <a:off x="914400" y="6080760"/>
            <a:ext cx="5303520" cy="45720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Includes 864k OFW and 315k corporate bookings that were short-lead all along, invisible inside their segments.</a:t>
            </a:r>
          </a:p>
        </p:txBody>
      </p:sp>
      <p:sp>
        <p:nvSpPr>
          <p:cNvPr id="19" name="Rectangle 18"/>
          <p:cNvSpPr/>
          <p:nvPr/>
        </p:nvSpPr>
        <p:spPr>
          <a:xfrm>
            <a:off x="6492240" y="3977639"/>
            <a:ext cx="4782312" cy="2148840"/>
          </a:xfrm>
          <a:prstGeom prst="rect">
            <a:avLst/>
          </a:prstGeom>
          <a:solidFill>
            <a:srgbClr val="D9E7F6"/>
          </a:solidFill>
          <a:ln>
            <a:noFill/>
          </a:ln>
          <a:effectLst/>
        </p:spPr>
        <p:txBody>
          <a:bodyPr rtlCol="0" anchor="ctr"/>
          <a:lstStyle/>
          <a:p>
            <a:pPr algn="ctr"/>
          </a:p>
        </p:txBody>
      </p:sp>
      <p:sp>
        <p:nvSpPr>
          <p:cNvPr id="20" name="TextBox 19"/>
          <p:cNvSpPr txBox="1"/>
          <p:nvPr/>
        </p:nvSpPr>
        <p:spPr>
          <a:xfrm>
            <a:off x="6720840" y="4133087"/>
            <a:ext cx="438912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NUMBERS WE REFUSE TO QUOTE</a:t>
            </a:r>
          </a:p>
        </p:txBody>
      </p:sp>
      <p:sp>
        <p:nvSpPr>
          <p:cNvPr id="21" name="TextBox 20"/>
          <p:cNvSpPr txBox="1"/>
          <p:nvPr/>
        </p:nvSpPr>
        <p:spPr>
          <a:xfrm>
            <a:off x="6720840" y="4443984"/>
            <a:ext cx="4370832" cy="1600200"/>
          </a:xfrm>
          <a:prstGeom prst="rect">
            <a:avLst/>
          </a:prstGeom>
          <a:noFill/>
        </p:spPr>
        <p:txBody>
          <a:bodyPr wrap="square" anchor="t" lIns="0" rIns="0" tIns="0" bIns="0">
            <a:spAutoFit/>
          </a:bodyPr>
          <a:lstStyle/>
          <a:p>
            <a:pPr algn="l">
              <a:lnSpc>
                <a:spcPct val="118000"/>
              </a:lnSpc>
            </a:pPr>
            <a:r>
              <a:rPr sz="1100" b="1">
                <a:solidFill>
                  <a:srgbClr val="0D2E5E"/>
                </a:solidFill>
                <a:latin typeface="Arial"/>
              </a:rPr>
              <a:t>62.7% 'reclassified'</a:t>
            </a:r>
            <a:r>
              <a:rPr sz="1100" b="0">
                <a:solidFill>
                  <a:srgbClr val="0D2E5E"/>
                </a:solidFill>
                <a:latin typeface="Arial"/>
              </a:rPr>
              <a:t> — mostly the Budget/Adventure → Leisure rename.</a:t>
            </a:r>
          </a:p>
          <a:p>
            <a:pPr algn="l">
              <a:lnSpc>
                <a:spcPct val="118000"/>
              </a:lnSpc>
            </a:pPr>
            <a:r>
              <a:rPr sz="400" b="0">
                <a:solidFill>
                  <a:srgbClr val="0D2E5E"/>
                </a:solidFill>
                <a:latin typeface="Arial"/>
              </a:rPr>
              <a:t/>
            </a:r>
          </a:p>
          <a:p>
            <a:pPr algn="l">
              <a:lnSpc>
                <a:spcPct val="118000"/>
              </a:lnSpc>
            </a:pPr>
            <a:r>
              <a:rPr sz="1100" b="1">
                <a:solidFill>
                  <a:srgbClr val="0D2E5E"/>
                </a:solidFill>
                <a:latin typeface="Arial"/>
              </a:rPr>
              <a:t>Corporate, 35.6% short-lead</a:t>
            </a:r>
            <a:r>
              <a:rPr sz="1100" b="0">
                <a:solidFill>
                  <a:srgbClr val="0D2E5E"/>
                </a:solidFill>
                <a:latin typeface="Arial"/>
              </a:rPr>
              <a:t> — one of its rule branches only admits short-lead bookings. The honest figure is 23.3%.</a:t>
            </a:r>
          </a:p>
          <a:p>
            <a:pPr algn="l">
              <a:lnSpc>
                <a:spcPct val="118000"/>
              </a:lnSpc>
            </a:pPr>
            <a:r>
              <a:rPr sz="400" b="0">
                <a:solidFill>
                  <a:srgbClr val="0D2E5E"/>
                </a:solidFill>
                <a:latin typeface="Arial"/>
              </a:rPr>
              <a:t/>
            </a:r>
          </a:p>
          <a:p>
            <a:pPr algn="l">
              <a:lnSpc>
                <a:spcPct val="118000"/>
              </a:lnSpc>
            </a:pPr>
            <a:r>
              <a:rPr sz="1100" b="0">
                <a:solidFill>
                  <a:srgbClr val="0D2E5E"/>
                </a:solidFill>
                <a:latin typeface="Arial"/>
              </a:rPr>
              <a:t>Three-quarters of the old Unassigned was Filipinos buying international economy tickets — now a segment of its 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44 of 55 boundaries hold on evidence the rules never saw</a:t>
            </a:r>
          </a:p>
        </p:txBody>
      </p:sp>
      <p:sp>
        <p:nvSpPr>
          <p:cNvPr id="7" name="TextBox 6"/>
          <p:cNvSpPr txBox="1"/>
          <p:nvPr/>
        </p:nvSpPr>
        <p:spPr>
          <a:xfrm>
            <a:off x="914400" y="2121408"/>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V1 · Construct</a:t>
            </a:r>
          </a:p>
        </p:txBody>
      </p:sp>
      <p:sp>
        <p:nvSpPr>
          <p:cNvPr id="8" name="TextBox 7"/>
          <p:cNvSpPr txBox="1"/>
          <p:nvPr/>
        </p:nvSpPr>
        <p:spPr>
          <a:xfrm>
            <a:off x="914400" y="2368296"/>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Are they distinguishable?</a:t>
            </a:r>
          </a:p>
        </p:txBody>
      </p:sp>
      <p:sp>
        <p:nvSpPr>
          <p:cNvPr id="9" name="TextBox 8"/>
          <p:cNvSpPr txBox="1"/>
          <p:nvPr/>
        </p:nvSpPr>
        <p:spPr>
          <a:xfrm>
            <a:off x="2880360" y="2121408"/>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44 of 55 pairs clearly distinct, none indistinguishable — median AUC 0.861 on fields the rules never consumed.</a:t>
            </a:r>
          </a:p>
        </p:txBody>
      </p:sp>
      <p:sp>
        <p:nvSpPr>
          <p:cNvPr id="10" name="TextBox 9"/>
          <p:cNvSpPr txBox="1"/>
          <p:nvPr/>
        </p:nvSpPr>
        <p:spPr>
          <a:xfrm>
            <a:off x="914400" y="2971800"/>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V2 · Criterion</a:t>
            </a:r>
          </a:p>
        </p:txBody>
      </p:sp>
      <p:sp>
        <p:nvSpPr>
          <p:cNvPr id="11" name="TextBox 10"/>
          <p:cNvSpPr txBox="1"/>
          <p:nvPr/>
        </p:nvSpPr>
        <p:spPr>
          <a:xfrm>
            <a:off x="914400" y="3218688"/>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Do they predict anything?</a:t>
            </a:r>
          </a:p>
        </p:txBody>
      </p:sp>
      <p:sp>
        <p:nvSpPr>
          <p:cNvPr id="12" name="TextBox 11"/>
          <p:cNvSpPr txBox="1"/>
          <p:nvPr/>
        </p:nvSpPr>
        <p:spPr>
          <a:xfrm>
            <a:off x="2880360" y="2971800"/>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The label alone: ~0.60 vs a 0.50 coin flip. On top of the raw features it adds almost nothing — expected for a compression. Its value is targeting.</a:t>
            </a:r>
          </a:p>
        </p:txBody>
      </p:sp>
      <p:sp>
        <p:nvSpPr>
          <p:cNvPr id="13" name="TextBox 12"/>
          <p:cNvSpPr txBox="1"/>
          <p:nvPr/>
        </p:nvSpPr>
        <p:spPr>
          <a:xfrm>
            <a:off x="914400" y="3822192"/>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V3 · Detection power</a:t>
            </a:r>
          </a:p>
        </p:txBody>
      </p:sp>
      <p:sp>
        <p:nvSpPr>
          <p:cNvPr id="14" name="TextBox 13"/>
          <p:cNvSpPr txBox="1"/>
          <p:nvPr/>
        </p:nvSpPr>
        <p:spPr>
          <a:xfrm>
            <a:off x="914400" y="4069080"/>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Could we have missed one?</a:t>
            </a:r>
          </a:p>
        </p:txBody>
      </p:sp>
      <p:sp>
        <p:nvSpPr>
          <p:cNvPr id="15" name="TextBox 14"/>
          <p:cNvSpPr txBox="1"/>
          <p:nvPr/>
        </p:nvSpPr>
        <p:spPr>
          <a:xfrm>
            <a:off x="2880360" y="3822192"/>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Planted segments ≥2% of bookings are found by a majority of methods. Below ~1%, nothing is — a stated blind spot.</a:t>
            </a:r>
          </a:p>
        </p:txBody>
      </p:sp>
      <p:sp>
        <p:nvSpPr>
          <p:cNvPr id="16" name="TextBox 15"/>
          <p:cNvSpPr txBox="1"/>
          <p:nvPr/>
        </p:nvSpPr>
        <p:spPr>
          <a:xfrm>
            <a:off x="914400" y="4672584"/>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V4 · Stability</a:t>
            </a:r>
          </a:p>
        </p:txBody>
      </p:sp>
      <p:sp>
        <p:nvSpPr>
          <p:cNvPr id="17" name="TextBox 16"/>
          <p:cNvSpPr txBox="1"/>
          <p:nvPr/>
        </p:nvSpPr>
        <p:spPr>
          <a:xfrm>
            <a:off x="914400" y="4919472"/>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 year later?</a:t>
            </a:r>
          </a:p>
        </p:txBody>
      </p:sp>
      <p:sp>
        <p:nvSpPr>
          <p:cNvPr id="18" name="TextBox 17"/>
          <p:cNvSpPr txBox="1"/>
          <p:nvPr/>
        </p:nvSpPr>
        <p:spPr>
          <a:xfrm>
            <a:off x="2880360" y="4672584"/>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Shares hold across a twelve-month step where the volume is; drift sits in the three smallest segments.</a:t>
            </a:r>
          </a:p>
        </p:txBody>
      </p:sp>
      <p:sp>
        <p:nvSpPr>
          <p:cNvPr id="19" name="TextBox 18"/>
          <p:cNvSpPr txBox="1"/>
          <p:nvPr/>
        </p:nvSpPr>
        <p:spPr>
          <a:xfrm>
            <a:off x="6949440" y="2103120"/>
            <a:ext cx="434340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V1, DRAWN — ALL 55 PAIRS</a:t>
            </a:r>
          </a:p>
        </p:txBody>
      </p:sp>
      <p:pic>
        <p:nvPicPr>
          <p:cNvPr id="20" name="Picture 19" descr="c3_auc_strip.png"/>
          <p:cNvPicPr>
            <a:picLocks noChangeAspect="1"/>
          </p:cNvPicPr>
          <p:nvPr/>
        </p:nvPicPr>
        <p:blipFill>
          <a:blip r:embed="rId3"/>
          <a:stretch>
            <a:fillRect/>
          </a:stretch>
        </p:blipFill>
        <p:spPr>
          <a:xfrm>
            <a:off x="6949440" y="2377440"/>
            <a:ext cx="3977639" cy="3133897"/>
          </a:xfrm>
          <a:prstGeom prst="rect">
            <a:avLst/>
          </a:prstGeom>
        </p:spPr>
      </p:pic>
      <p:sp>
        <p:nvSpPr>
          <p:cNvPr id="21" name="Rectangle 20"/>
          <p:cNvSpPr/>
          <p:nvPr/>
        </p:nvSpPr>
        <p:spPr>
          <a:xfrm>
            <a:off x="914400" y="5715000"/>
            <a:ext cx="10360152" cy="777240"/>
          </a:xfrm>
          <a:prstGeom prst="rect">
            <a:avLst/>
          </a:prstGeom>
          <a:solidFill>
            <a:srgbClr val="0D2E5E"/>
          </a:solidFill>
          <a:ln>
            <a:noFill/>
          </a:ln>
          <a:effectLst/>
        </p:spPr>
        <p:txBody>
          <a:bodyPr rtlCol="0" anchor="ctr"/>
          <a:lstStyle/>
          <a:p>
            <a:pPr algn="ctr"/>
          </a:p>
        </p:txBody>
      </p:sp>
      <p:sp>
        <p:nvSpPr>
          <p:cNvPr id="22" name="TextBox 21"/>
          <p:cNvSpPr txBox="1"/>
          <p:nvPr/>
        </p:nvSpPr>
        <p:spPr>
          <a:xfrm>
            <a:off x="1143000" y="5843016"/>
            <a:ext cx="9875520" cy="548640"/>
          </a:xfrm>
          <a:prstGeom prst="rect">
            <a:avLst/>
          </a:prstGeom>
          <a:noFill/>
        </p:spPr>
        <p:txBody>
          <a:bodyPr wrap="square" anchor="t" lIns="0" rIns="0" tIns="0" bIns="0">
            <a:spAutoFit/>
          </a:bodyPr>
          <a:lstStyle/>
          <a:p>
            <a:pPr algn="l">
              <a:lnSpc>
                <a:spcPct val="122000"/>
              </a:lnSpc>
            </a:pPr>
            <a:r>
              <a:rPr sz="1200" b="1">
                <a:solidFill>
                  <a:srgbClr val="FFFFFF"/>
                </a:solidFill>
                <a:latin typeface="Arial"/>
              </a:rPr>
              <a:t>Owning the weak spot before you find it: </a:t>
            </a:r>
            <a:r>
              <a:rPr sz="1200" b="0">
                <a:solidFill>
                  <a:srgbClr val="FFFFFF"/>
                </a:solidFill>
                <a:latin typeface="Arial"/>
              </a:rPr>
              <a:t>the OFW–Balikbayan boundary did not improve with the new taxonomy — 0.730 before, 0.728 after, same test. The change that touched it moves 1.4% of the branch.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Manila–Gulf runs on a one-month clock no other corridor has</a:t>
            </a:r>
          </a:p>
        </p:txBody>
      </p:sp>
      <p:pic>
        <p:nvPicPr>
          <p:cNvPr id="7" name="Picture 6" descr="c4_gulf_stay.png"/>
          <p:cNvPicPr>
            <a:picLocks noChangeAspect="1"/>
          </p:cNvPicPr>
          <p:nvPr/>
        </p:nvPicPr>
        <p:blipFill>
          <a:blip r:embed="rId3"/>
          <a:stretch>
            <a:fillRect/>
          </a:stretch>
        </p:blipFill>
        <p:spPr>
          <a:xfrm>
            <a:off x="914400" y="2121408"/>
            <a:ext cx="5577840" cy="2858067"/>
          </a:xfrm>
          <a:prstGeom prst="rect">
            <a:avLst/>
          </a:prstGeom>
        </p:spPr>
      </p:pic>
      <p:sp>
        <p:nvSpPr>
          <p:cNvPr id="8" name="TextBox 7"/>
          <p:cNvSpPr txBox="1"/>
          <p:nvPr/>
        </p:nvSpPr>
        <p:spPr>
          <a:xfrm>
            <a:off x="914400" y="5029200"/>
            <a:ext cx="5623560" cy="50292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Real trip data, PH-issued Gulf labour corridors vs tourist hubs. 19.11% of Gulf round trips sit at 28–32 nights against 8.48% at a fortnight; no other corridor's month-to-fortnight ratio tops 0.60.</a:t>
            </a:r>
          </a:p>
        </p:txBody>
      </p:sp>
      <p:sp>
        <p:nvSpPr>
          <p:cNvPr id="9" name="Rectangle 8"/>
          <p:cNvSpPr/>
          <p:nvPr/>
        </p:nvSpPr>
        <p:spPr>
          <a:xfrm>
            <a:off x="914400" y="5577840"/>
            <a:ext cx="5577840" cy="914400"/>
          </a:xfrm>
          <a:prstGeom prst="rect">
            <a:avLst/>
          </a:prstGeom>
          <a:solidFill>
            <a:srgbClr val="D9E7F6"/>
          </a:solidFill>
          <a:ln>
            <a:noFill/>
          </a:ln>
          <a:effectLst/>
        </p:spPr>
        <p:txBody>
          <a:bodyPr rtlCol="0" anchor="ctr"/>
          <a:lstStyle/>
          <a:p>
            <a:pPr algn="ctr"/>
          </a:p>
        </p:txBody>
      </p:sp>
      <p:sp>
        <p:nvSpPr>
          <p:cNvPr id="10" name="TextBox 9"/>
          <p:cNvSpPr txBox="1"/>
          <p:nvPr/>
        </p:nvSpPr>
        <p:spPr>
          <a:xfrm>
            <a:off x="1115568" y="5687568"/>
            <a:ext cx="5212080" cy="731520"/>
          </a:xfrm>
          <a:prstGeom prst="rect">
            <a:avLst/>
          </a:prstGeom>
          <a:noFill/>
        </p:spPr>
        <p:txBody>
          <a:bodyPr wrap="square" anchor="t" lIns="0" rIns="0" tIns="0" bIns="0">
            <a:spAutoFit/>
          </a:bodyPr>
          <a:lstStyle/>
          <a:p>
            <a:pPr algn="l">
              <a:lnSpc>
                <a:spcPct val="120000"/>
              </a:lnSpc>
            </a:pPr>
            <a:r>
              <a:rPr sz="1100" b="1">
                <a:solidFill>
                  <a:srgbClr val="0D2E5E"/>
                </a:solidFill>
                <a:latin typeface="Arial"/>
              </a:rPr>
              <a:t>The confound we haven't killed yet: </a:t>
            </a:r>
            <a:r>
              <a:rPr sz="1100" b="0">
                <a:solidFill>
                  <a:srgbClr val="0D2E5E"/>
                </a:solidFill>
                <a:latin typeface="Arial"/>
              </a:rPr>
              <a:t>a one-month maximum-stay fare rule would paint this identical picture. Fare basis codes settle it; until then, pattern, not cause.</a:t>
            </a:r>
          </a:p>
        </p:txBody>
      </p:sp>
      <p:sp>
        <p:nvSpPr>
          <p:cNvPr id="11" name="Rectangle 10"/>
          <p:cNvSpPr/>
          <p:nvPr/>
        </p:nvSpPr>
        <p:spPr>
          <a:xfrm>
            <a:off x="6858000" y="2148840"/>
            <a:ext cx="4434840" cy="1737360"/>
          </a:xfrm>
          <a:prstGeom prst="rect">
            <a:avLst/>
          </a:prstGeom>
          <a:solidFill>
            <a:srgbClr val="0D2E5E"/>
          </a:solidFill>
          <a:ln>
            <a:noFill/>
          </a:ln>
          <a:effectLst/>
        </p:spPr>
        <p:txBody>
          <a:bodyPr rtlCol="0" anchor="ctr"/>
          <a:lstStyle/>
          <a:p>
            <a:pPr algn="ctr"/>
          </a:p>
        </p:txBody>
      </p:sp>
      <p:sp>
        <p:nvSpPr>
          <p:cNvPr id="12" name="TextBox 11"/>
          <p:cNvSpPr txBox="1"/>
          <p:nvPr/>
        </p:nvSpPr>
        <p:spPr>
          <a:xfrm>
            <a:off x="7040880" y="2331720"/>
            <a:ext cx="4023360" cy="54864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$495 – $9,784</a:t>
            </a:r>
          </a:p>
        </p:txBody>
      </p:sp>
      <p:sp>
        <p:nvSpPr>
          <p:cNvPr id="13" name="TextBox 12"/>
          <p:cNvSpPr txBox="1"/>
          <p:nvPr/>
        </p:nvSpPr>
        <p:spPr>
          <a:xfrm>
            <a:off x="7040880" y="2926080"/>
            <a:ext cx="4069080" cy="914400"/>
          </a:xfrm>
          <a:prstGeom prst="rect">
            <a:avLst/>
          </a:prstGeom>
          <a:noFill/>
        </p:spPr>
        <p:txBody>
          <a:bodyPr wrap="square" anchor="t" lIns="0" rIns="0" tIns="0" bIns="0">
            <a:spAutoFit/>
          </a:bodyPr>
          <a:lstStyle/>
          <a:p>
            <a:pPr algn="l">
              <a:lnSpc>
                <a:spcPct val="120000"/>
              </a:lnSpc>
            </a:pPr>
            <a:r>
              <a:rPr sz="1150" b="0">
                <a:solidFill>
                  <a:srgbClr val="E9F0FA"/>
                </a:solidFill>
                <a:latin typeface="Arial"/>
              </a:rPr>
              <a:t>annual value at risk per misclassified customer, by segment — the first sourced dollar spread this project has had.</a:t>
            </a:r>
          </a:p>
        </p:txBody>
      </p:sp>
      <p:sp>
        <p:nvSpPr>
          <p:cNvPr id="14" name="Rectangle 13"/>
          <p:cNvSpPr/>
          <p:nvPr/>
        </p:nvSpPr>
        <p:spPr>
          <a:xfrm>
            <a:off x="6858000" y="4114800"/>
            <a:ext cx="4434840" cy="1737360"/>
          </a:xfrm>
          <a:prstGeom prst="rect">
            <a:avLst/>
          </a:prstGeom>
          <a:solidFill>
            <a:srgbClr val="EEF4FB"/>
          </a:solidFill>
          <a:ln>
            <a:noFill/>
          </a:ln>
          <a:effectLst/>
        </p:spPr>
        <p:txBody>
          <a:bodyPr rtlCol="0" anchor="ctr"/>
          <a:lstStyle/>
          <a:p>
            <a:pPr algn="ctr"/>
          </a:p>
        </p:txBody>
      </p:sp>
      <p:sp>
        <p:nvSpPr>
          <p:cNvPr id="15" name="TextBox 14"/>
          <p:cNvSpPr txBox="1"/>
          <p:nvPr/>
        </p:nvSpPr>
        <p:spPr>
          <a:xfrm>
            <a:off x="7040880" y="4261104"/>
            <a:ext cx="4069080" cy="1463040"/>
          </a:xfrm>
          <a:prstGeom prst="rect">
            <a:avLst/>
          </a:prstGeom>
          <a:noFill/>
        </p:spPr>
        <p:txBody>
          <a:bodyPr wrap="square" anchor="t" lIns="0" rIns="0" tIns="0" bIns="0">
            <a:spAutoFit/>
          </a:bodyPr>
          <a:lstStyle/>
          <a:p>
            <a:pPr algn="l">
              <a:lnSpc>
                <a:spcPct val="120000"/>
              </a:lnSpc>
            </a:pPr>
            <a:r>
              <a:rPr sz="1150" b="0">
                <a:solidFill>
                  <a:srgbClr val="0D2E5E"/>
                </a:solidFill>
                <a:latin typeface="Arial"/>
              </a:rPr>
              <a:t>It replaces a penalty ladder whose dollar column was penalty × $4,000 — and which ranked two segments backwards against measured revenue. </a:t>
            </a:r>
          </a:p>
          <a:p>
            <a:pPr algn="l">
              <a:lnSpc>
                <a:spcPct val="120000"/>
              </a:lnSpc>
            </a:pPr>
            <a:r>
              <a:rPr sz="1150" b="1">
                <a:solidFill>
                  <a:srgbClr val="0D2E5E"/>
                </a:solidFill>
                <a:latin typeface="Arial"/>
              </a:rPr>
              <a:t>PAL's answer so far is 'show us a run first', so the new weights are a proposal, not a decision.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BEFORE HANDOVER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limits we own, and the fixes in flight</a:t>
            </a:r>
          </a:p>
        </p:txBody>
      </p:sp>
      <p:sp>
        <p:nvSpPr>
          <p:cNvPr id="7" name="TextBox 6"/>
          <p:cNvSpPr txBox="1"/>
          <p:nvPr/>
        </p:nvSpPr>
        <p:spPr>
          <a:xfrm>
            <a:off x="914400" y="2103120"/>
            <a:ext cx="274320" cy="274320"/>
          </a:xfrm>
          <a:prstGeom prst="rect">
            <a:avLst/>
          </a:prstGeom>
          <a:noFill/>
        </p:spPr>
        <p:txBody>
          <a:bodyPr wrap="square" anchor="t" lIns="0" rIns="0" tIns="0" bIns="0">
            <a:spAutoFit/>
          </a:bodyPr>
          <a:lstStyle/>
          <a:p>
            <a:pPr algn="l">
              <a:lnSpc>
                <a:spcPct val="108000"/>
              </a:lnSpc>
            </a:pPr>
            <a:r>
              <a:rPr sz="100" b="0">
                <a:solidFill>
                  <a:srgbClr val="0D2E5E"/>
                </a:solidFill>
                <a:latin typeface="Arial"/>
              </a:rPr>
              <a:t/>
            </a:r>
          </a:p>
        </p:txBody>
      </p:sp>
      <p:sp>
        <p:nvSpPr>
          <p:cNvPr id="8" name="TextBox 7"/>
          <p:cNvSpPr txBox="1"/>
          <p:nvPr/>
        </p:nvSpPr>
        <p:spPr>
          <a:xfrm>
            <a:off x="914400" y="2103120"/>
            <a:ext cx="512064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OWNED, NOT HIDDEN</a:t>
            </a:r>
          </a:p>
        </p:txBody>
      </p:sp>
      <p:sp>
        <p:nvSpPr>
          <p:cNvPr id="9" name="Rectangle 8"/>
          <p:cNvSpPr/>
          <p:nvPr/>
        </p:nvSpPr>
        <p:spPr>
          <a:xfrm>
            <a:off x="914400" y="2505456"/>
            <a:ext cx="40640" cy="237744"/>
          </a:xfrm>
          <a:prstGeom prst="rect">
            <a:avLst/>
          </a:prstGeom>
          <a:solidFill>
            <a:srgbClr val="1B74E8"/>
          </a:solidFill>
          <a:ln>
            <a:noFill/>
          </a:ln>
          <a:effectLst/>
        </p:spPr>
        <p:txBody>
          <a:bodyPr rtlCol="0" anchor="ctr"/>
          <a:lstStyle/>
          <a:p>
            <a:pPr algn="ctr"/>
          </a:p>
        </p:txBody>
      </p:sp>
      <p:sp>
        <p:nvSpPr>
          <p:cNvPr id="10" name="TextBox 9"/>
          <p:cNvSpPr txBox="1"/>
          <p:nvPr/>
        </p:nvSpPr>
        <p:spPr>
          <a:xfrm>
            <a:off x="1060704" y="2487168"/>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loyalty field in the extract, so Mabuhay sits at 0.03% and can't be measured — only awaited.</a:t>
            </a:r>
          </a:p>
        </p:txBody>
      </p:sp>
      <p:sp>
        <p:nvSpPr>
          <p:cNvPr id="11" name="Rectangle 10"/>
          <p:cNvSpPr/>
          <p:nvPr/>
        </p:nvSpPr>
        <p:spPr>
          <a:xfrm>
            <a:off x="914400" y="3218688"/>
            <a:ext cx="40640" cy="237744"/>
          </a:xfrm>
          <a:prstGeom prst="rect">
            <a:avLst/>
          </a:prstGeom>
          <a:solidFill>
            <a:srgbClr val="1B74E8"/>
          </a:solidFill>
          <a:ln>
            <a:noFill/>
          </a:ln>
          <a:effectLst/>
        </p:spPr>
        <p:txBody>
          <a:bodyPr rtlCol="0" anchor="ctr"/>
          <a:lstStyle/>
          <a:p>
            <a:pPr algn="ctr"/>
          </a:p>
        </p:txBody>
      </p:sp>
      <p:sp>
        <p:nvSpPr>
          <p:cNvPr id="12" name="TextBox 11"/>
          <p:cNvSpPr txBox="1"/>
          <p:nvPr/>
        </p:nvSpPr>
        <p:spPr>
          <a:xfrm>
            <a:off x="1060704" y="320040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Blind below ~1% prevalence: a real segment of 229k bookings could exist and we would not find it.</a:t>
            </a:r>
          </a:p>
        </p:txBody>
      </p:sp>
      <p:sp>
        <p:nvSpPr>
          <p:cNvPr id="13" name="Rectangle 12"/>
          <p:cNvSpPr/>
          <p:nvPr/>
        </p:nvSpPr>
        <p:spPr>
          <a:xfrm>
            <a:off x="914400" y="3931920"/>
            <a:ext cx="40640" cy="237744"/>
          </a:xfrm>
          <a:prstGeom prst="rect">
            <a:avLst/>
          </a:prstGeom>
          <a:solidFill>
            <a:srgbClr val="1B74E8"/>
          </a:solidFill>
          <a:ln>
            <a:noFill/>
          </a:ln>
          <a:effectLst/>
        </p:spPr>
        <p:txBody>
          <a:bodyPr rtlCol="0" anchor="ctr"/>
          <a:lstStyle/>
          <a:p>
            <a:pPr algn="ctr"/>
          </a:p>
        </p:txBody>
      </p:sp>
      <p:sp>
        <p:nvSpPr>
          <p:cNvPr id="14" name="TextBox 13"/>
          <p:cNvSpPr txBox="1"/>
          <p:nvPr/>
        </p:nvSpPr>
        <p:spPr>
          <a:xfrm>
            <a:off x="1060704" y="3913632"/>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The build moves by ±1 booking between runs — 1,830 tied sort keys; cause found, fix drafted.</a:t>
            </a:r>
          </a:p>
        </p:txBody>
      </p:sp>
      <p:sp>
        <p:nvSpPr>
          <p:cNvPr id="15" name="Rectangle 14"/>
          <p:cNvSpPr/>
          <p:nvPr/>
        </p:nvSpPr>
        <p:spPr>
          <a:xfrm>
            <a:off x="914400" y="4645152"/>
            <a:ext cx="40640" cy="237744"/>
          </a:xfrm>
          <a:prstGeom prst="rect">
            <a:avLst/>
          </a:prstGeom>
          <a:solidFill>
            <a:srgbClr val="1B74E8"/>
          </a:solidFill>
          <a:ln>
            <a:noFill/>
          </a:ln>
          <a:effectLst/>
        </p:spPr>
        <p:txBody>
          <a:bodyPr rtlCol="0" anchor="ctr"/>
          <a:lstStyle/>
          <a:p>
            <a:pPr algn="ctr"/>
          </a:p>
        </p:txBody>
      </p:sp>
      <p:sp>
        <p:nvSpPr>
          <p:cNvPr id="16" name="TextBox 15"/>
          <p:cNvSpPr txBox="1"/>
          <p:nvPr/>
        </p:nvSpPr>
        <p:spPr>
          <a:xfrm>
            <a:off x="1060704" y="4626864"/>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ancillary revenue in the data, so per-booking value understates bag-heavy segments.</a:t>
            </a:r>
          </a:p>
        </p:txBody>
      </p:sp>
      <p:sp>
        <p:nvSpPr>
          <p:cNvPr id="17" name="TextBox 16"/>
          <p:cNvSpPr txBox="1"/>
          <p:nvPr/>
        </p:nvSpPr>
        <p:spPr>
          <a:xfrm>
            <a:off x="6492240" y="2103120"/>
            <a:ext cx="484632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IN FLIGHT</a:t>
            </a:r>
          </a:p>
        </p:txBody>
      </p:sp>
      <p:sp>
        <p:nvSpPr>
          <p:cNvPr id="18" name="Rectangle 17"/>
          <p:cNvSpPr/>
          <p:nvPr/>
        </p:nvSpPr>
        <p:spPr>
          <a:xfrm>
            <a:off x="6492240" y="2505456"/>
            <a:ext cx="40640" cy="237744"/>
          </a:xfrm>
          <a:prstGeom prst="rect">
            <a:avLst/>
          </a:prstGeom>
          <a:solidFill>
            <a:srgbClr val="35A0DB"/>
          </a:solidFill>
          <a:ln>
            <a:noFill/>
          </a:ln>
          <a:effectLst/>
        </p:spPr>
        <p:txBody>
          <a:bodyPr rtlCol="0" anchor="ctr"/>
          <a:lstStyle/>
          <a:p>
            <a:pPr algn="ctr"/>
          </a:p>
        </p:txBody>
      </p:sp>
      <p:sp>
        <p:nvSpPr>
          <p:cNvPr id="19" name="TextBox 18"/>
          <p:cNvSpPr txBox="1"/>
          <p:nvPr/>
        </p:nvSpPr>
        <p:spPr>
          <a:xfrm>
            <a:off x="6638544" y="24871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Fare basis codes, requested — they settle the Gulf question and sharpen the value bands.</a:t>
            </a:r>
          </a:p>
        </p:txBody>
      </p:sp>
      <p:sp>
        <p:nvSpPr>
          <p:cNvPr id="20" name="Rectangle 19"/>
          <p:cNvSpPr/>
          <p:nvPr/>
        </p:nvSpPr>
        <p:spPr>
          <a:xfrm>
            <a:off x="6492240" y="3419856"/>
            <a:ext cx="40640" cy="237744"/>
          </a:xfrm>
          <a:prstGeom prst="rect">
            <a:avLst/>
          </a:prstGeom>
          <a:solidFill>
            <a:srgbClr val="35A0DB"/>
          </a:solidFill>
          <a:ln>
            <a:noFill/>
          </a:ln>
          <a:effectLst/>
        </p:spPr>
        <p:txBody>
          <a:bodyPr rtlCol="0" anchor="ctr"/>
          <a:lstStyle/>
          <a:p>
            <a:pPr algn="ctr"/>
          </a:p>
        </p:txBody>
      </p:sp>
      <p:sp>
        <p:nvSpPr>
          <p:cNvPr id="21" name="TextBox 20"/>
          <p:cNvSpPr txBox="1"/>
          <p:nvPr/>
        </p:nvSpPr>
        <p:spPr>
          <a:xfrm>
            <a:off x="6638544" y="34015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Penalty weights await PAL's sign-off; they asked to see a scored run first.</a:t>
            </a:r>
          </a:p>
        </p:txBody>
      </p:sp>
      <p:sp>
        <p:nvSpPr>
          <p:cNvPr id="22" name="Rectangle 21"/>
          <p:cNvSpPr/>
          <p:nvPr/>
        </p:nvSpPr>
        <p:spPr>
          <a:xfrm>
            <a:off x="6492240" y="4334256"/>
            <a:ext cx="40640" cy="237744"/>
          </a:xfrm>
          <a:prstGeom prst="rect">
            <a:avLst/>
          </a:prstGeom>
          <a:solidFill>
            <a:srgbClr val="35A0DB"/>
          </a:solidFill>
          <a:ln>
            <a:noFill/>
          </a:ln>
          <a:effectLst/>
        </p:spPr>
        <p:txBody>
          <a:bodyPr rtlCol="0" anchor="ctr"/>
          <a:lstStyle/>
          <a:p>
            <a:pPr algn="ctr"/>
          </a:p>
        </p:txBody>
      </p:sp>
      <p:sp>
        <p:nvSpPr>
          <p:cNvPr id="23" name="TextBox 22"/>
          <p:cNvSpPr txBox="1"/>
          <p:nvPr/>
        </p:nvSpPr>
        <p:spPr>
          <a:xfrm>
            <a:off x="6638544" y="43159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An SME-labelled sample would give us a real accuracy number. The dashboard ships none today, because any accuracy we could print would be the model grading its own homework.</a:t>
            </a:r>
          </a:p>
        </p:txBody>
      </p:sp>
      <p:sp>
        <p:nvSpPr>
          <p:cNvPr id="24" name="TextBox 23"/>
          <p:cNvSpPr txBox="1"/>
          <p:nvPr/>
        </p:nvSpPr>
        <p:spPr>
          <a:xfrm>
            <a:off x="914400" y="5623560"/>
            <a:ext cx="10241280" cy="548640"/>
          </a:xfrm>
          <a:prstGeom prst="rect">
            <a:avLst/>
          </a:prstGeom>
          <a:noFill/>
        </p:spPr>
        <p:txBody>
          <a:bodyPr wrap="square" anchor="t" lIns="0" rIns="0" tIns="0" bIns="0">
            <a:spAutoFit/>
          </a:bodyPr>
          <a:lstStyle/>
          <a:p>
            <a:pPr algn="l">
              <a:lnSpc>
                <a:spcPct val="108000"/>
              </a:lnSpc>
            </a:pPr>
            <a:r>
              <a:rPr sz="1250" b="0">
                <a:solidFill>
                  <a:srgbClr val="6B7A8C"/>
                </a:solidFill>
                <a:latin typeface="Arial"/>
              </a:rPr>
              <a:t>Everything on this slide is also written down in the handover pack — with the receipts.</a:t>
            </a:r>
          </a:p>
        </p:txBody>
      </p:sp>
      <p:sp>
        <p:nvSpPr>
          <p:cNvPr id="25" name="Rectangle 24"/>
          <p:cNvSpPr/>
          <p:nvPr/>
        </p:nvSpPr>
        <p:spPr>
          <a:xfrm>
            <a:off x="6492240" y="5248656"/>
            <a:ext cx="40640" cy="237744"/>
          </a:xfrm>
          <a:prstGeom prst="rect">
            <a:avLst/>
          </a:prstGeom>
          <a:solidFill>
            <a:srgbClr val="35A0DB"/>
          </a:solidFill>
          <a:ln>
            <a:noFill/>
          </a:ln>
          <a:effectLst/>
        </p:spPr>
        <p:txBody>
          <a:bodyPr rtlCol="0" anchor="ctr"/>
          <a:lstStyle/>
          <a:p>
            <a:pPr algn="ctr"/>
          </a:p>
        </p:txBody>
      </p:sp>
      <p:sp>
        <p:nvSpPr>
          <p:cNvPr id="26" name="TextBox 25"/>
          <p:cNvSpPr txBox="1"/>
          <p:nvPr/>
        </p:nvSpPr>
        <p:spPr>
          <a:xfrm>
            <a:off x="6638544" y="52303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refit-cadence claim yet: V4 transfer needs a multi-seed spread.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RECOMMENDATIONS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strategies, in the order PAL should run them</a:t>
            </a:r>
          </a:p>
        </p:txBody>
      </p:sp>
      <p:sp>
        <p:nvSpPr>
          <p:cNvPr id="7" name="Rectangle 6"/>
          <p:cNvSpPr/>
          <p:nvPr/>
        </p:nvSpPr>
        <p:spPr>
          <a:xfrm>
            <a:off x="914400" y="2194560"/>
            <a:ext cx="4800600"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1 · Act on the segments</a:t>
            </a:r>
          </a:p>
        </p:txBody>
      </p:sp>
      <p:sp>
        <p:nvSpPr>
          <p:cNvPr id="9" name="TextBox 8"/>
          <p:cNvSpPr txBox="1"/>
          <p:nvPr/>
        </p:nvSpPr>
        <p:spPr>
          <a:xfrm>
            <a:off x="91440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Protect Balikbayan/VFR — 28% of revenue on an eighth of the bookings. Grow the two premium segments. Use the short-lead flag for willingness-to-pay plays across every segment, not a bucket of its own.</a:t>
            </a:r>
          </a:p>
        </p:txBody>
      </p:sp>
      <p:sp>
        <p:nvSpPr>
          <p:cNvPr id="10" name="Rectangle 9"/>
          <p:cNvSpPr/>
          <p:nvPr/>
        </p:nvSpPr>
        <p:spPr>
          <a:xfrm>
            <a:off x="6492240" y="2194560"/>
            <a:ext cx="4800600"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649224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2 · Enhance the model</a:t>
            </a:r>
          </a:p>
        </p:txBody>
      </p:sp>
      <p:sp>
        <p:nvSpPr>
          <p:cNvPr id="12" name="TextBox 11"/>
          <p:cNvSpPr txBox="1"/>
          <p:nvPr/>
        </p:nvSpPr>
        <p:spPr>
          <a:xfrm>
            <a:off x="649224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Data before algorithms: the loyalty join first, then fare basis codes, ancillary revenue, and an SME-labelled sample. Every proposed experiment already has a pre-registered decision rule and a stop condition.</a:t>
            </a:r>
          </a:p>
        </p:txBody>
      </p:sp>
      <p:sp>
        <p:nvSpPr>
          <p:cNvPr id="13" name="Rectangle 12"/>
          <p:cNvSpPr/>
          <p:nvPr/>
        </p:nvSpPr>
        <p:spPr>
          <a:xfrm>
            <a:off x="914400" y="4206240"/>
            <a:ext cx="4800600"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91440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3 · Deploy it</a:t>
            </a:r>
          </a:p>
        </p:txBody>
      </p:sp>
      <p:sp>
        <p:nvSpPr>
          <p:cNvPr id="15" name="TextBox 14"/>
          <p:cNvSpPr txBox="1"/>
          <p:nvPr/>
        </p:nvSpPr>
        <p:spPr>
          <a:xfrm>
            <a:off x="91440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Deterministic rules mean no model server — a SQL job PAL's own stack can run. The PSI drift monitor is the tripwire; evidence so far says a yearly refit buys little, pending one multi-seed confirmation.</a:t>
            </a:r>
          </a:p>
        </p:txBody>
      </p:sp>
      <p:sp>
        <p:nvSpPr>
          <p:cNvPr id="16" name="Rectangle 15"/>
          <p:cNvSpPr/>
          <p:nvPr/>
        </p:nvSpPr>
        <p:spPr>
          <a:xfrm>
            <a:off x="6492240" y="4206240"/>
            <a:ext cx="4800600"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649224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4 · Manage the dashboard</a:t>
            </a:r>
          </a:p>
        </p:txBody>
      </p:sp>
      <p:sp>
        <p:nvSpPr>
          <p:cNvPr id="18" name="TextBox 17"/>
          <p:cNvSpPr txBox="1"/>
          <p:nvPr/>
        </p:nvSpPr>
        <p:spPr>
          <a:xfrm>
            <a:off x="649224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PAL BI takes ownership. The Trust and DataCaveat columns must survive every edit, and the scorecard-ties-to-facts assertion stays on as the regression test.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CONCLUSION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continuum, drawn into segments PAL can defend</a:t>
            </a:r>
          </a:p>
        </p:txBody>
      </p:sp>
      <p:sp>
        <p:nvSpPr>
          <p:cNvPr id="7" name="TextBox 6"/>
          <p:cNvSpPr txBox="1"/>
          <p:nvPr/>
        </p:nvSpPr>
        <p:spPr>
          <a:xfrm>
            <a:off x="914400" y="224028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01</a:t>
            </a:r>
          </a:p>
        </p:txBody>
      </p:sp>
      <p:sp>
        <p:nvSpPr>
          <p:cNvPr id="8" name="TextBox 7"/>
          <p:cNvSpPr txBox="1"/>
          <p:nvPr/>
        </p:nvSpPr>
        <p:spPr>
          <a:xfrm>
            <a:off x="1600200" y="226771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PAL's customers sit on a continuum. Ten algorithms agree. Drawing the lines by business rule and validating them independently was the right design, and we'd choose it again.</a:t>
            </a:r>
          </a:p>
        </p:txBody>
      </p:sp>
      <p:sp>
        <p:nvSpPr>
          <p:cNvPr id="9" name="TextBox 8"/>
          <p:cNvSpPr txBox="1"/>
          <p:nvPr/>
        </p:nvSpPr>
        <p:spPr>
          <a:xfrm>
            <a:off x="914400" y="329184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02</a:t>
            </a:r>
          </a:p>
        </p:txBody>
      </p:sp>
      <p:sp>
        <p:nvSpPr>
          <p:cNvPr id="10" name="TextBox 9"/>
          <p:cNvSpPr txBox="1"/>
          <p:nvPr/>
        </p:nvSpPr>
        <p:spPr>
          <a:xfrm>
            <a:off x="1600200" y="331927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The deliverable: eleven named, costed segments on 22.9 million bookings — each carrying its own trust level, on a dashboard that reconciles to the row.</a:t>
            </a:r>
          </a:p>
        </p:txBody>
      </p:sp>
      <p:sp>
        <p:nvSpPr>
          <p:cNvPr id="11" name="TextBox 10"/>
          <p:cNvSpPr txBox="1"/>
          <p:nvPr/>
        </p:nvSpPr>
        <p:spPr>
          <a:xfrm>
            <a:off x="914400" y="434340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03</a:t>
            </a:r>
          </a:p>
        </p:txBody>
      </p:sp>
      <p:sp>
        <p:nvSpPr>
          <p:cNvPr id="12" name="TextBox 11"/>
          <p:cNvSpPr txBox="1"/>
          <p:nvPr/>
        </p:nvSpPr>
        <p:spPr>
          <a:xfrm>
            <a:off x="1600200" y="437083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What makes the labels safe to use is the machinery around them: circularity contracts, controls that retired one of our own instruments, withdrawn numbers named in writing.</a:t>
            </a:r>
          </a:p>
        </p:txBody>
      </p:sp>
      <p:sp>
        <p:nvSpPr>
          <p:cNvPr id="13" name="Rectangle 12"/>
          <p:cNvSpPr/>
          <p:nvPr/>
        </p:nvSpPr>
        <p:spPr>
          <a:xfrm>
            <a:off x="7635240" y="2194560"/>
            <a:ext cx="3657600" cy="3291840"/>
          </a:xfrm>
          <a:prstGeom prst="rect">
            <a:avLst/>
          </a:prstGeom>
          <a:solidFill>
            <a:srgbClr val="0D2E5E"/>
          </a:solidFill>
          <a:ln>
            <a:noFill/>
          </a:ln>
          <a:effectLst/>
        </p:spPr>
        <p:txBody>
          <a:bodyPr rtlCol="0" anchor="ctr"/>
          <a:lstStyle/>
          <a:p>
            <a:pPr algn="ctr"/>
          </a:p>
        </p:txBody>
      </p:sp>
      <p:sp>
        <p:nvSpPr>
          <p:cNvPr id="14" name="TextBox 13"/>
          <p:cNvSpPr txBox="1"/>
          <p:nvPr/>
        </p:nvSpPr>
        <p:spPr>
          <a:xfrm>
            <a:off x="7863840" y="2359152"/>
            <a:ext cx="320040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WHAT HAPPENS NEXT</a:t>
            </a:r>
          </a:p>
        </p:txBody>
      </p:sp>
      <p:sp>
        <p:nvSpPr>
          <p:cNvPr id="15" name="Rectangle 14"/>
          <p:cNvSpPr/>
          <p:nvPr/>
        </p:nvSpPr>
        <p:spPr>
          <a:xfrm>
            <a:off x="7863840" y="2761488"/>
            <a:ext cx="40640" cy="237744"/>
          </a:xfrm>
          <a:prstGeom prst="rect">
            <a:avLst/>
          </a:prstGeom>
          <a:solidFill>
            <a:srgbClr val="35A0DB"/>
          </a:solidFill>
          <a:ln>
            <a:noFill/>
          </a:ln>
          <a:effectLst/>
        </p:spPr>
        <p:txBody>
          <a:bodyPr rtlCol="0" anchor="ctr"/>
          <a:lstStyle/>
          <a:p>
            <a:pPr algn="ctr"/>
          </a:p>
        </p:txBody>
      </p:sp>
      <p:sp>
        <p:nvSpPr>
          <p:cNvPr id="16" name="TextBox 15"/>
          <p:cNvSpPr txBox="1"/>
          <p:nvPr/>
        </p:nvSpPr>
        <p:spPr>
          <a:xfrm>
            <a:off x="8010144" y="2743200"/>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Fare basis codes land the Gulf answer</a:t>
            </a:r>
          </a:p>
        </p:txBody>
      </p:sp>
      <p:sp>
        <p:nvSpPr>
          <p:cNvPr id="17" name="Rectangle 16"/>
          <p:cNvSpPr/>
          <p:nvPr/>
        </p:nvSpPr>
        <p:spPr>
          <a:xfrm>
            <a:off x="7863840" y="3383280"/>
            <a:ext cx="40640" cy="237744"/>
          </a:xfrm>
          <a:prstGeom prst="rect">
            <a:avLst/>
          </a:prstGeom>
          <a:solidFill>
            <a:srgbClr val="35A0DB"/>
          </a:solidFill>
          <a:ln>
            <a:noFill/>
          </a:ln>
          <a:effectLst/>
        </p:spPr>
        <p:txBody>
          <a:bodyPr rtlCol="0" anchor="ctr"/>
          <a:lstStyle/>
          <a:p>
            <a:pPr algn="ctr"/>
          </a:p>
        </p:txBody>
      </p:sp>
      <p:sp>
        <p:nvSpPr>
          <p:cNvPr id="18" name="TextBox 17"/>
          <p:cNvSpPr txBox="1"/>
          <p:nvPr/>
        </p:nvSpPr>
        <p:spPr>
          <a:xfrm>
            <a:off x="8010144" y="3364992"/>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SME gold sample — contested boundaries first</a:t>
            </a:r>
          </a:p>
        </p:txBody>
      </p:sp>
      <p:sp>
        <p:nvSpPr>
          <p:cNvPr id="19" name="Rectangle 18"/>
          <p:cNvSpPr/>
          <p:nvPr/>
        </p:nvSpPr>
        <p:spPr>
          <a:xfrm>
            <a:off x="7863840" y="4005072"/>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8010144" y="3986784"/>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Penalty weights: PAL reviews a scored run</a:t>
            </a:r>
          </a:p>
        </p:txBody>
      </p:sp>
      <p:sp>
        <p:nvSpPr>
          <p:cNvPr id="21" name="Rectangle 20"/>
          <p:cNvSpPr/>
          <p:nvPr/>
        </p:nvSpPr>
        <p:spPr>
          <a:xfrm>
            <a:off x="7863840" y="4626864"/>
            <a:ext cx="40640" cy="237744"/>
          </a:xfrm>
          <a:prstGeom prst="rect">
            <a:avLst/>
          </a:prstGeom>
          <a:solidFill>
            <a:srgbClr val="35A0DB"/>
          </a:solidFill>
          <a:ln>
            <a:noFill/>
          </a:ln>
          <a:effectLst/>
        </p:spPr>
        <p:txBody>
          <a:bodyPr rtlCol="0" anchor="ctr"/>
          <a:lstStyle/>
          <a:p>
            <a:pPr algn="ctr"/>
          </a:p>
        </p:txBody>
      </p:sp>
      <p:sp>
        <p:nvSpPr>
          <p:cNvPr id="22" name="TextBox 21"/>
          <p:cNvSpPr txBox="1"/>
          <p:nvPr/>
        </p:nvSpPr>
        <p:spPr>
          <a:xfrm>
            <a:off x="8010144" y="4608576"/>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Phase 0 governance starts in parallel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16_Image139.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55000"/>
            </a:srgbClr>
          </a:solidFill>
          <a:ln>
            <a:noFill/>
          </a:ln>
          <a:effectLst/>
        </p:spPr>
        <p:txBody>
          <a:bodyPr rtlCol="0" anchor="ctr"/>
          <a:lstStyle/>
          <a:p>
            <a:pPr algn="ctr"/>
          </a:p>
        </p:txBody>
      </p:sp>
      <p:sp>
        <p:nvSpPr>
          <p:cNvPr id="5" name="TextBox 4"/>
          <p:cNvSpPr txBox="1"/>
          <p:nvPr/>
        </p:nvSpPr>
        <p:spPr>
          <a:xfrm>
            <a:off x="868680" y="868680"/>
            <a:ext cx="7315200" cy="91440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Thank you</a:t>
            </a:r>
          </a:p>
        </p:txBody>
      </p:sp>
      <p:sp>
        <p:nvSpPr>
          <p:cNvPr id="6" name="TextBox 5"/>
          <p:cNvSpPr txBox="1"/>
          <p:nvPr/>
        </p:nvSpPr>
        <p:spPr>
          <a:xfrm>
            <a:off x="896112" y="1828800"/>
            <a:ext cx="7315200" cy="365760"/>
          </a:xfrm>
          <a:prstGeom prst="rect">
            <a:avLst/>
          </a:prstGeom>
          <a:noFill/>
        </p:spPr>
        <p:txBody>
          <a:bodyPr wrap="square" anchor="t" lIns="0" rIns="0" tIns="0" bIns="0">
            <a:spAutoFit/>
          </a:bodyPr>
          <a:lstStyle/>
          <a:p>
            <a:pPr algn="l">
              <a:lnSpc>
                <a:spcPct val="108000"/>
              </a:lnSpc>
            </a:pPr>
            <a:r>
              <a:rPr sz="1500" b="1">
                <a:solidFill>
                  <a:srgbClr val="E9F0FA"/>
                </a:solidFill>
                <a:latin typeface="Arial"/>
              </a:rPr>
              <a:t>Panel questions and discussion</a:t>
            </a:r>
          </a:p>
        </p:txBody>
      </p:sp>
      <p:sp>
        <p:nvSpPr>
          <p:cNvPr id="7" name="Rectangle 6"/>
          <p:cNvSpPr/>
          <p:nvPr/>
        </p:nvSpPr>
        <p:spPr>
          <a:xfrm>
            <a:off x="868680" y="5669280"/>
            <a:ext cx="2377440" cy="566928"/>
          </a:xfrm>
          <a:prstGeom prst="rect">
            <a:avLst/>
          </a:prstGeom>
          <a:solidFill>
            <a:srgbClr val="FFFFFF"/>
          </a:solidFill>
          <a:ln>
            <a:noFill/>
          </a:ln>
          <a:effectLst/>
        </p:spPr>
        <p:txBody>
          <a:bodyPr rtlCol="0" anchor="ctr"/>
          <a:lstStyle/>
          <a:p>
            <a:pPr algn="ctr"/>
          </a:p>
        </p:txBody>
      </p:sp>
      <p:pic>
        <p:nvPicPr>
          <p:cNvPr id="8" name="Picture 7" descr="p0_Image58.png"/>
          <p:cNvPicPr>
            <a:picLocks noChangeAspect="1"/>
          </p:cNvPicPr>
          <p:nvPr/>
        </p:nvPicPr>
        <p:blipFill>
          <a:blip r:embed="rId3"/>
          <a:stretch>
            <a:fillRect/>
          </a:stretch>
        </p:blipFill>
        <p:spPr>
          <a:xfrm>
            <a:off x="960120" y="5733288"/>
            <a:ext cx="1727200" cy="4389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