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81" r:id="rId33"/>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5.xml"/><Relationship Id="rId3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live here. Say which V1 measure you're quoting — 0.861 is the adaptive column. And never present '0.608 to 0.72' as an improvement on the weak boundary; those are two different tests, and like-for-like it went down.</a:t>
            </a:r>
          </a:p>
          <a:p/>
          <a:p>
            <a:r>
              <a:t>Where the 11 weak pairs actually sit (from outputs/validate_construct/pairs.csv): Corporate is in 6 of its 10 boundaries and Leisure in 5 of its 10; every other segment has at most one or two. Two readings, both worth having. Leisure's softness IS the missing middle rung, measured — half the book in one segment is hard to tell from anything. And Corporate is the least well-defined segment on TWO independent diagnostics: most contested by the rules internally (only 6.4% uncontested, 12 Aug) and most weak boundaries on evidence the rules never saw. That is why Corporate is first in line for the SME sample. Guardrail: the lowest bar on this chart is Ultra Wealthy Leisure vs Leisure at 0.611 — NOT the OFW-Balikbayan boundary, which sits at 0.713 in this matrix. The 0.730/0.728 figures come from the isolated round-trip test, a different population. If someone points at the lowest bar: a brand-new segment carved off the top of a segment holding half the book is exactly where the softest edge belongs.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ML's job 1 — refinement — and it is the only slide that shows what the machine learning actually produced. Slides 8 and 10 promise it; this delivers it. One sentence to land: the rules give PAL eleven segments to talk about, and the LCA gives twenty cells to act on.</a:t>
            </a:r>
          </a:p>
          <a:p/>
          <a:p>
            <a:r>
              <a:t>Read the grammar, not the twenty names. Every parent splits along the same three axes — direction (one-way vs round-trip), timing (last-minute / short-lead / advance / far-advance), and fare tier. Nobody told the model those axes; it recovered the same structure the waterfall uses, from inside each segment. That is corroboration, not repetition, because the sub-types were fitted per parent.</a:t>
            </a:r>
          </a:p>
          <a:p/>
          <a:p>
            <a:r>
              <a:t>The commercial point is the value spread INSIDE a single segment. Balikbayan/VFR: $311 at 26 days out versus $995 at 66 days — 3.2x, on booking horizon alone. Corporate: $112 to $656 with every sub-type short-lead, so there the spread is direction and fare, not timing. OFW and Outbound International are much flatter (1.7x and 1.2x), which is itself useful — those two do not need sub-segment pricing.</a:t>
            </a:r>
          </a:p>
          <a:p/>
          <a:p>
            <a:r>
              <a:t>GUARDRAIL — do not say 'BIC chose four'. K_RANGE is range(2,5), so four is the TOP of the search range, and BIC preferred the maximum in all five parents. That is the continuum finding one level down: no natural number of types inside a segment either. Four is a granularity choice we made, not a structure we discovered. Same trap as k=9 on the PCA slide — handle it the same way.</a:t>
            </a:r>
          </a:p>
          <a:p/>
          <a:p>
            <a:r>
              <a:t>Other guardrails: 40,000 bookings sampled per parent (hash-ordered, reproducible — NOT reservoir sampling, which had a threads&gt;1 defect). Sub-types are descriptive only; they change no top-level label and nothing downstream reads them. Source: outputs/sub_segments/summary.md, re-pointed at the v2 parents on 18 Aug.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hard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r>
              <a:rPr sz="1100" b="1">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r>
              <a:rPr sz="2700" b="1">
                <a:solidFill>
                  <a:srgbClr val="0D2E5E"/>
                </a:solidFill>
                <a:latin typeface="Arial"/>
              </a:rPr>
              <a:t>Inside the five biggest segments, ML finds four types each</a:t>
            </a:r>
          </a:p>
        </p:txBody>
      </p:sp>
      <p:sp>
        <p:nvSpPr>
          <p:cNvPr id="7" name="Rectangle 6"/>
          <p:cNvSpPr/>
          <p:nvPr/>
        </p:nvSpPr>
        <p:spPr>
          <a:xfrm>
            <a:off x="914400" y="2240280"/>
            <a:ext cx="1920240" cy="36576"/>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68296"/>
            <a:ext cx="1920240" cy="420624"/>
          </a:xfrm>
          <a:prstGeom prst="rect">
            <a:avLst/>
          </a:prstGeom>
          <a:noFill/>
        </p:spPr>
        <p:txBody>
          <a:bodyPr wrap="square" anchor="t" lIns="0" rIns="0" tIns="0" bIns="0">
            <a:spAutoFit/>
          </a:bodyPr>
          <a:lstStyle/>
          <a:p>
            <a:r>
              <a:rPr sz="1100" b="1">
                <a:solidFill>
                  <a:srgbClr val="0D2E5E"/>
                </a:solidFill>
                <a:latin typeface="Arial"/>
              </a:rPr>
              <a:t>Leisure · 50.6%</a:t>
            </a:r>
          </a:p>
        </p:txBody>
      </p:sp>
      <p:sp>
        <p:nvSpPr>
          <p:cNvPr id="9" name="TextBox 8"/>
          <p:cNvSpPr txBox="1"/>
          <p:nvPr/>
        </p:nvSpPr>
        <p:spPr>
          <a:xfrm>
            <a:off x="914400" y="2871216"/>
            <a:ext cx="1920240" cy="2194560"/>
          </a:xfrm>
          <a:prstGeom prst="rect">
            <a:avLst/>
          </a:prstGeom>
          <a:noFill/>
        </p:spPr>
        <p:txBody>
          <a:bodyPr wrap="square" anchor="t" lIns="0" rIns="0" tIns="0" bIns="0">
            <a:spAutoFit/>
          </a:bodyPr>
          <a:lstStyle/>
          <a:p>
            <a:pPr>
              <a:spcAft>
                <a:spcPts val="100"/>
              </a:spcAft>
            </a:pPr>
            <a:r>
              <a:rPr sz="1050" b="1">
                <a:solidFill>
                  <a:srgbClr val="0D2E5E"/>
                </a:solidFill>
                <a:latin typeface="Arial"/>
              </a:rPr>
              <a:t>35.1%   $75</a:t>
            </a:r>
          </a:p>
          <a:p>
            <a:pPr>
              <a:spcAft>
                <a:spcPts val="700"/>
              </a:spcAft>
            </a:pPr>
            <a:r>
              <a:rPr sz="850" b="0">
                <a:solidFill>
                  <a:srgbClr val="6B7A8C"/>
                </a:solidFill>
                <a:latin typeface="Arial"/>
              </a:rPr>
              <a:t>one-way · short-lead · value · 4d</a:t>
            </a:r>
          </a:p>
          <a:p>
            <a:pPr>
              <a:spcAft>
                <a:spcPts val="100"/>
              </a:spcAft>
            </a:pPr>
            <a:r>
              <a:rPr sz="1050" b="1">
                <a:solidFill>
                  <a:srgbClr val="0D2E5E"/>
                </a:solidFill>
                <a:latin typeface="Arial"/>
              </a:rPr>
              <a:t>33.8%   $97</a:t>
            </a:r>
          </a:p>
          <a:p>
            <a:pPr>
              <a:spcAft>
                <a:spcPts val="700"/>
              </a:spcAft>
            </a:pPr>
            <a:r>
              <a:rPr sz="850" b="0">
                <a:solidFill>
                  <a:srgbClr val="6B7A8C"/>
                </a:solidFill>
                <a:latin typeface="Arial"/>
              </a:rPr>
              <a:t>round-trip · advance · saver · 22d</a:t>
            </a:r>
          </a:p>
          <a:p>
            <a:pPr>
              <a:spcAft>
                <a:spcPts val="100"/>
              </a:spcAft>
            </a:pPr>
            <a:r>
              <a:rPr sz="1050" b="1">
                <a:solidFill>
                  <a:srgbClr val="0D2E5E"/>
                </a:solidFill>
                <a:latin typeface="Arial"/>
              </a:rPr>
              <a:t>23.9%   $24</a:t>
            </a:r>
          </a:p>
          <a:p>
            <a:pPr>
              <a:spcAft>
                <a:spcPts val="700"/>
              </a:spcAft>
            </a:pPr>
            <a:r>
              <a:rPr sz="850" b="0">
                <a:solidFill>
                  <a:srgbClr val="6B7A8C"/>
                </a:solidFill>
                <a:latin typeface="Arial"/>
              </a:rPr>
              <a:t>one-way · advance · supersaver · 39d</a:t>
            </a:r>
          </a:p>
          <a:p>
            <a:pPr>
              <a:spcAft>
                <a:spcPts val="100"/>
              </a:spcAft>
            </a:pPr>
            <a:r>
              <a:rPr sz="1050" b="1">
                <a:solidFill>
                  <a:srgbClr val="0D2E5E"/>
                </a:solidFill>
                <a:latin typeface="Arial"/>
              </a:rPr>
              <a:t>7.3%   $84</a:t>
            </a:r>
          </a:p>
          <a:p>
            <a:r>
              <a:rPr sz="850" b="0">
                <a:solidFill>
                  <a:srgbClr val="6B7A8C"/>
                </a:solidFill>
                <a:latin typeface="Arial"/>
              </a:rPr>
              <a:t>one-way · advance · saver · 16d</a:t>
            </a:r>
          </a:p>
        </p:txBody>
      </p:sp>
      <p:sp>
        <p:nvSpPr>
          <p:cNvPr id="10" name="Rectangle 9"/>
          <p:cNvSpPr/>
          <p:nvPr/>
        </p:nvSpPr>
        <p:spPr>
          <a:xfrm>
            <a:off x="3024378" y="2240280"/>
            <a:ext cx="1920240" cy="36576"/>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24378" y="2368296"/>
            <a:ext cx="1920240" cy="420624"/>
          </a:xfrm>
          <a:prstGeom prst="rect">
            <a:avLst/>
          </a:prstGeom>
          <a:noFill/>
        </p:spPr>
        <p:txBody>
          <a:bodyPr wrap="square" anchor="t" lIns="0" rIns="0" tIns="0" bIns="0">
            <a:spAutoFit/>
          </a:bodyPr>
          <a:lstStyle/>
          <a:p>
            <a:r>
              <a:rPr sz="1100" b="1">
                <a:solidFill>
                  <a:srgbClr val="0D2E5E"/>
                </a:solidFill>
                <a:latin typeface="Arial"/>
              </a:rPr>
              <a:t>OFW / Migrant · 17.1%</a:t>
            </a:r>
          </a:p>
        </p:txBody>
      </p:sp>
      <p:sp>
        <p:nvSpPr>
          <p:cNvPr id="12" name="TextBox 11"/>
          <p:cNvSpPr txBox="1"/>
          <p:nvPr/>
        </p:nvSpPr>
        <p:spPr>
          <a:xfrm>
            <a:off x="3024378" y="2871216"/>
            <a:ext cx="1920240" cy="2194560"/>
          </a:xfrm>
          <a:prstGeom prst="rect">
            <a:avLst/>
          </a:prstGeom>
          <a:noFill/>
        </p:spPr>
        <p:txBody>
          <a:bodyPr wrap="square" anchor="t" lIns="0" rIns="0" tIns="0" bIns="0">
            <a:spAutoFit/>
          </a:bodyPr>
          <a:lstStyle/>
          <a:p>
            <a:pPr>
              <a:spcAft>
                <a:spcPts val="100"/>
              </a:spcAft>
            </a:pPr>
            <a:r>
              <a:rPr sz="1050" b="1">
                <a:solidFill>
                  <a:srgbClr val="0D2E5E"/>
                </a:solidFill>
                <a:latin typeface="Arial"/>
              </a:rPr>
              <a:t>46.3%   $213</a:t>
            </a:r>
          </a:p>
          <a:p>
            <a:pPr>
              <a:spcAft>
                <a:spcPts val="700"/>
              </a:spcAft>
            </a:pPr>
            <a:r>
              <a:rPr sz="850" b="0">
                <a:solidFill>
                  <a:srgbClr val="6B7A8C"/>
                </a:solidFill>
                <a:latin typeface="Arial"/>
              </a:rPr>
              <a:t>one-way · short-lead · saver · 13d</a:t>
            </a:r>
          </a:p>
          <a:p>
            <a:pPr>
              <a:spcAft>
                <a:spcPts val="100"/>
              </a:spcAft>
            </a:pPr>
            <a:r>
              <a:rPr sz="1050" b="1">
                <a:solidFill>
                  <a:srgbClr val="0D2E5E"/>
                </a:solidFill>
                <a:latin typeface="Arial"/>
              </a:rPr>
              <a:t>38.1%   $295</a:t>
            </a:r>
          </a:p>
          <a:p>
            <a:pPr>
              <a:spcAft>
                <a:spcPts val="700"/>
              </a:spcAft>
            </a:pPr>
            <a:r>
              <a:rPr sz="850" b="0">
                <a:solidFill>
                  <a:srgbClr val="6B7A8C"/>
                </a:solidFill>
                <a:latin typeface="Arial"/>
              </a:rPr>
              <a:t>one-way · advance · saver · 24d</a:t>
            </a:r>
          </a:p>
          <a:p>
            <a:pPr>
              <a:spcAft>
                <a:spcPts val="100"/>
              </a:spcAft>
            </a:pPr>
            <a:r>
              <a:rPr sz="1050" b="1">
                <a:solidFill>
                  <a:srgbClr val="0D2E5E"/>
                </a:solidFill>
                <a:latin typeface="Arial"/>
              </a:rPr>
              <a:t>9.9%   $170</a:t>
            </a:r>
          </a:p>
          <a:p>
            <a:pPr>
              <a:spcAft>
                <a:spcPts val="700"/>
              </a:spcAft>
            </a:pPr>
            <a:r>
              <a:rPr sz="850" b="0">
                <a:solidFill>
                  <a:srgbClr val="6B7A8C"/>
                </a:solidFill>
                <a:latin typeface="Arial"/>
              </a:rPr>
              <a:t>one-way · short-lead · value · 4d</a:t>
            </a:r>
          </a:p>
          <a:p>
            <a:pPr>
              <a:spcAft>
                <a:spcPts val="100"/>
              </a:spcAft>
            </a:pPr>
            <a:r>
              <a:rPr sz="1050" b="1">
                <a:solidFill>
                  <a:srgbClr val="0D2E5E"/>
                </a:solidFill>
                <a:latin typeface="Arial"/>
              </a:rPr>
              <a:t>5.7%   $180</a:t>
            </a:r>
          </a:p>
          <a:p>
            <a:r>
              <a:rPr sz="850" b="0">
                <a:solidFill>
                  <a:srgbClr val="6B7A8C"/>
                </a:solidFill>
                <a:latin typeface="Arial"/>
              </a:rPr>
              <a:t>round-trip · short-lead · value · 13d</a:t>
            </a:r>
          </a:p>
        </p:txBody>
      </p:sp>
      <p:sp>
        <p:nvSpPr>
          <p:cNvPr id="13" name="Rectangle 12"/>
          <p:cNvSpPr/>
          <p:nvPr/>
        </p:nvSpPr>
        <p:spPr>
          <a:xfrm>
            <a:off x="5134356" y="2240280"/>
            <a:ext cx="1920240" cy="36576"/>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34356" y="2368296"/>
            <a:ext cx="1920240" cy="420624"/>
          </a:xfrm>
          <a:prstGeom prst="rect">
            <a:avLst/>
          </a:prstGeom>
          <a:noFill/>
        </p:spPr>
        <p:txBody>
          <a:bodyPr wrap="square" anchor="t" lIns="0" rIns="0" tIns="0" bIns="0">
            <a:spAutoFit/>
          </a:bodyPr>
          <a:lstStyle/>
          <a:p>
            <a:r>
              <a:rPr sz="1100" b="1">
                <a:solidFill>
                  <a:srgbClr val="0D2E5E"/>
                </a:solidFill>
                <a:latin typeface="Arial"/>
              </a:rPr>
              <a:t>Balikbayan / VFR · 12.5%</a:t>
            </a:r>
          </a:p>
        </p:txBody>
      </p:sp>
      <p:sp>
        <p:nvSpPr>
          <p:cNvPr id="15" name="TextBox 14"/>
          <p:cNvSpPr txBox="1"/>
          <p:nvPr/>
        </p:nvSpPr>
        <p:spPr>
          <a:xfrm>
            <a:off x="5134356" y="2871216"/>
            <a:ext cx="1920240" cy="2194560"/>
          </a:xfrm>
          <a:prstGeom prst="rect">
            <a:avLst/>
          </a:prstGeom>
          <a:noFill/>
        </p:spPr>
        <p:txBody>
          <a:bodyPr wrap="square" anchor="t" lIns="0" rIns="0" tIns="0" bIns="0">
            <a:spAutoFit/>
          </a:bodyPr>
          <a:lstStyle/>
          <a:p>
            <a:pPr>
              <a:spcAft>
                <a:spcPts val="100"/>
              </a:spcAft>
            </a:pPr>
            <a:r>
              <a:rPr sz="1050" b="1">
                <a:solidFill>
                  <a:srgbClr val="0D2E5E"/>
                </a:solidFill>
                <a:latin typeface="Arial"/>
              </a:rPr>
              <a:t>38.8%   $311</a:t>
            </a:r>
          </a:p>
          <a:p>
            <a:pPr>
              <a:spcAft>
                <a:spcPts val="700"/>
              </a:spcAft>
            </a:pPr>
            <a:r>
              <a:rPr sz="850" b="0">
                <a:solidFill>
                  <a:srgbClr val="6B7A8C"/>
                </a:solidFill>
                <a:latin typeface="Arial"/>
              </a:rPr>
              <a:t>round-trip · advance · saver · 26d</a:t>
            </a:r>
          </a:p>
          <a:p>
            <a:pPr>
              <a:spcAft>
                <a:spcPts val="100"/>
              </a:spcAft>
            </a:pPr>
            <a:r>
              <a:rPr sz="1050" b="1">
                <a:solidFill>
                  <a:srgbClr val="0D2E5E"/>
                </a:solidFill>
                <a:latin typeface="Arial"/>
              </a:rPr>
              <a:t>30.4%   $482</a:t>
            </a:r>
          </a:p>
          <a:p>
            <a:pPr>
              <a:spcAft>
                <a:spcPts val="700"/>
              </a:spcAft>
            </a:pPr>
            <a:r>
              <a:rPr sz="850" b="0">
                <a:solidFill>
                  <a:srgbClr val="6B7A8C"/>
                </a:solidFill>
                <a:latin typeface="Arial"/>
              </a:rPr>
              <a:t>round-trip · far-advance · saver · 55d</a:t>
            </a:r>
          </a:p>
          <a:p>
            <a:pPr>
              <a:spcAft>
                <a:spcPts val="100"/>
              </a:spcAft>
            </a:pPr>
            <a:r>
              <a:rPr sz="1050" b="1">
                <a:solidFill>
                  <a:srgbClr val="0D2E5E"/>
                </a:solidFill>
                <a:latin typeface="Arial"/>
              </a:rPr>
              <a:t>16.9%   $995</a:t>
            </a:r>
          </a:p>
          <a:p>
            <a:pPr>
              <a:spcAft>
                <a:spcPts val="700"/>
              </a:spcAft>
            </a:pPr>
            <a:r>
              <a:rPr sz="850" b="0">
                <a:solidFill>
                  <a:srgbClr val="6B7A8C"/>
                </a:solidFill>
                <a:latin typeface="Arial"/>
              </a:rPr>
              <a:t>round-trip · far-advance · value · 66d</a:t>
            </a:r>
          </a:p>
          <a:p>
            <a:pPr>
              <a:spcAft>
                <a:spcPts val="100"/>
              </a:spcAft>
            </a:pPr>
            <a:r>
              <a:rPr sz="1050" b="1">
                <a:solidFill>
                  <a:srgbClr val="0D2E5E"/>
                </a:solidFill>
                <a:latin typeface="Arial"/>
              </a:rPr>
              <a:t>13.8%   $814</a:t>
            </a:r>
          </a:p>
          <a:p>
            <a:r>
              <a:rPr sz="850" b="0">
                <a:solidFill>
                  <a:srgbClr val="6B7A8C"/>
                </a:solidFill>
                <a:latin typeface="Arial"/>
              </a:rPr>
              <a:t>round-trip · far-advance · supersaver · 131d</a:t>
            </a:r>
          </a:p>
        </p:txBody>
      </p:sp>
      <p:sp>
        <p:nvSpPr>
          <p:cNvPr id="16" name="Rectangle 15"/>
          <p:cNvSpPr/>
          <p:nvPr/>
        </p:nvSpPr>
        <p:spPr>
          <a:xfrm>
            <a:off x="7244334" y="2240280"/>
            <a:ext cx="1920240" cy="36576"/>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4334" y="2368296"/>
            <a:ext cx="1920240" cy="420624"/>
          </a:xfrm>
          <a:prstGeom prst="rect">
            <a:avLst/>
          </a:prstGeom>
          <a:noFill/>
        </p:spPr>
        <p:txBody>
          <a:bodyPr wrap="square" anchor="t" lIns="0" rIns="0" tIns="0" bIns="0">
            <a:spAutoFit/>
          </a:bodyPr>
          <a:lstStyle/>
          <a:p>
            <a:r>
              <a:rPr sz="1100" b="1">
                <a:solidFill>
                  <a:srgbClr val="0D2E5E"/>
                </a:solidFill>
                <a:latin typeface="Arial"/>
              </a:rPr>
              <a:t>Outbound Intl Leisure · 9.5%</a:t>
            </a:r>
          </a:p>
        </p:txBody>
      </p:sp>
      <p:sp>
        <p:nvSpPr>
          <p:cNvPr id="18" name="TextBox 17"/>
          <p:cNvSpPr txBox="1"/>
          <p:nvPr/>
        </p:nvSpPr>
        <p:spPr>
          <a:xfrm>
            <a:off x="7244334" y="2871216"/>
            <a:ext cx="1920240" cy="2194560"/>
          </a:xfrm>
          <a:prstGeom prst="rect">
            <a:avLst/>
          </a:prstGeom>
          <a:noFill/>
        </p:spPr>
        <p:txBody>
          <a:bodyPr wrap="square" anchor="t" lIns="0" rIns="0" tIns="0" bIns="0">
            <a:spAutoFit/>
          </a:bodyPr>
          <a:lstStyle/>
          <a:p>
            <a:pPr>
              <a:spcAft>
                <a:spcPts val="100"/>
              </a:spcAft>
            </a:pPr>
            <a:r>
              <a:rPr sz="1050" b="1">
                <a:solidFill>
                  <a:srgbClr val="0D2E5E"/>
                </a:solidFill>
                <a:latin typeface="Arial"/>
              </a:rPr>
              <a:t>51.2%   $308</a:t>
            </a:r>
          </a:p>
          <a:p>
            <a:pPr>
              <a:spcAft>
                <a:spcPts val="700"/>
              </a:spcAft>
            </a:pPr>
            <a:r>
              <a:rPr sz="850" b="0">
                <a:solidFill>
                  <a:srgbClr val="6B7A8C"/>
                </a:solidFill>
                <a:latin typeface="Arial"/>
              </a:rPr>
              <a:t>round-trip · advance · saver · 41d</a:t>
            </a:r>
          </a:p>
          <a:p>
            <a:pPr>
              <a:spcAft>
                <a:spcPts val="100"/>
              </a:spcAft>
            </a:pPr>
            <a:r>
              <a:rPr sz="1050" b="1">
                <a:solidFill>
                  <a:srgbClr val="0D2E5E"/>
                </a:solidFill>
                <a:latin typeface="Arial"/>
              </a:rPr>
              <a:t>29.5%   $288</a:t>
            </a:r>
          </a:p>
          <a:p>
            <a:pPr>
              <a:spcAft>
                <a:spcPts val="700"/>
              </a:spcAft>
            </a:pPr>
            <a:r>
              <a:rPr sz="850" b="0">
                <a:solidFill>
                  <a:srgbClr val="6B7A8C"/>
                </a:solidFill>
                <a:latin typeface="Arial"/>
              </a:rPr>
              <a:t>one-way · short-lead · saver · 11d</a:t>
            </a:r>
          </a:p>
          <a:p>
            <a:pPr>
              <a:spcAft>
                <a:spcPts val="100"/>
              </a:spcAft>
            </a:pPr>
            <a:r>
              <a:rPr sz="1050" b="1">
                <a:solidFill>
                  <a:srgbClr val="0D2E5E"/>
                </a:solidFill>
                <a:latin typeface="Arial"/>
              </a:rPr>
              <a:t>10.3%   $285</a:t>
            </a:r>
          </a:p>
          <a:p>
            <a:pPr>
              <a:spcAft>
                <a:spcPts val="700"/>
              </a:spcAft>
            </a:pPr>
            <a:r>
              <a:rPr sz="850" b="0">
                <a:solidFill>
                  <a:srgbClr val="6B7A8C"/>
                </a:solidFill>
                <a:latin typeface="Arial"/>
              </a:rPr>
              <a:t>round-trip · far-advance · saver · 47d</a:t>
            </a:r>
          </a:p>
          <a:p>
            <a:pPr>
              <a:spcAft>
                <a:spcPts val="100"/>
              </a:spcAft>
            </a:pPr>
            <a:r>
              <a:rPr sz="1050" b="1">
                <a:solidFill>
                  <a:srgbClr val="0D2E5E"/>
                </a:solidFill>
                <a:latin typeface="Arial"/>
              </a:rPr>
              <a:t>9.0%   $339</a:t>
            </a:r>
          </a:p>
          <a:p>
            <a:r>
              <a:rPr sz="850" b="0">
                <a:solidFill>
                  <a:srgbClr val="6B7A8C"/>
                </a:solidFill>
                <a:latin typeface="Arial"/>
              </a:rPr>
              <a:t>one-way · advance · saver · 21d</a:t>
            </a:r>
          </a:p>
        </p:txBody>
      </p:sp>
      <p:sp>
        <p:nvSpPr>
          <p:cNvPr id="19" name="Rectangle 18"/>
          <p:cNvSpPr/>
          <p:nvPr/>
        </p:nvSpPr>
        <p:spPr>
          <a:xfrm>
            <a:off x="9354312" y="2240280"/>
            <a:ext cx="1920240" cy="36576"/>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54312" y="2368296"/>
            <a:ext cx="1920240" cy="420624"/>
          </a:xfrm>
          <a:prstGeom prst="rect">
            <a:avLst/>
          </a:prstGeom>
          <a:noFill/>
        </p:spPr>
        <p:txBody>
          <a:bodyPr wrap="square" anchor="t" lIns="0" rIns="0" tIns="0" bIns="0">
            <a:spAutoFit/>
          </a:bodyPr>
          <a:lstStyle/>
          <a:p>
            <a:r>
              <a:rPr sz="1100" b="1">
                <a:solidFill>
                  <a:srgbClr val="0D2E5E"/>
                </a:solidFill>
                <a:latin typeface="Arial"/>
              </a:rPr>
              <a:t>Corporate · 5.1%</a:t>
            </a:r>
          </a:p>
        </p:txBody>
      </p:sp>
      <p:sp>
        <p:nvSpPr>
          <p:cNvPr id="21" name="TextBox 20"/>
          <p:cNvSpPr txBox="1"/>
          <p:nvPr/>
        </p:nvSpPr>
        <p:spPr>
          <a:xfrm>
            <a:off x="9354312" y="2871216"/>
            <a:ext cx="1920240" cy="2194560"/>
          </a:xfrm>
          <a:prstGeom prst="rect">
            <a:avLst/>
          </a:prstGeom>
          <a:noFill/>
        </p:spPr>
        <p:txBody>
          <a:bodyPr wrap="square" anchor="t" lIns="0" rIns="0" tIns="0" bIns="0">
            <a:spAutoFit/>
          </a:bodyPr>
          <a:lstStyle/>
          <a:p>
            <a:pPr>
              <a:spcAft>
                <a:spcPts val="100"/>
              </a:spcAft>
            </a:pPr>
            <a:r>
              <a:rPr sz="1050" b="1">
                <a:solidFill>
                  <a:srgbClr val="0D2E5E"/>
                </a:solidFill>
                <a:latin typeface="Arial"/>
              </a:rPr>
              <a:t>40.4%   $203</a:t>
            </a:r>
          </a:p>
          <a:p>
            <a:pPr>
              <a:spcAft>
                <a:spcPts val="700"/>
              </a:spcAft>
            </a:pPr>
            <a:r>
              <a:rPr sz="850" b="0">
                <a:solidFill>
                  <a:srgbClr val="6B7A8C"/>
                </a:solidFill>
                <a:latin typeface="Arial"/>
              </a:rPr>
              <a:t>round-trip · short-lead · flex · 5d</a:t>
            </a:r>
          </a:p>
          <a:p>
            <a:pPr>
              <a:spcAft>
                <a:spcPts val="100"/>
              </a:spcAft>
            </a:pPr>
            <a:r>
              <a:rPr sz="1050" b="1">
                <a:solidFill>
                  <a:srgbClr val="0D2E5E"/>
                </a:solidFill>
                <a:latin typeface="Arial"/>
              </a:rPr>
              <a:t>22.2%   $323</a:t>
            </a:r>
          </a:p>
          <a:p>
            <a:pPr>
              <a:spcAft>
                <a:spcPts val="700"/>
              </a:spcAft>
            </a:pPr>
            <a:r>
              <a:rPr sz="850" b="0">
                <a:solidFill>
                  <a:srgbClr val="6B7A8C"/>
                </a:solidFill>
                <a:latin typeface="Arial"/>
              </a:rPr>
              <a:t>one-way · short-lead · value · 6d</a:t>
            </a:r>
          </a:p>
          <a:p>
            <a:pPr>
              <a:spcAft>
                <a:spcPts val="100"/>
              </a:spcAft>
            </a:pPr>
            <a:r>
              <a:rPr sz="1050" b="1">
                <a:solidFill>
                  <a:srgbClr val="0D2E5E"/>
                </a:solidFill>
                <a:latin typeface="Arial"/>
              </a:rPr>
              <a:t>22.2%   $656</a:t>
            </a:r>
          </a:p>
          <a:p>
            <a:pPr>
              <a:spcAft>
                <a:spcPts val="700"/>
              </a:spcAft>
            </a:pPr>
            <a:r>
              <a:rPr sz="850" b="0">
                <a:solidFill>
                  <a:srgbClr val="6B7A8C"/>
                </a:solidFill>
                <a:latin typeface="Arial"/>
              </a:rPr>
              <a:t>round-trip · short-lead · value · 14d</a:t>
            </a:r>
          </a:p>
          <a:p>
            <a:pPr>
              <a:spcAft>
                <a:spcPts val="100"/>
              </a:spcAft>
            </a:pPr>
            <a:r>
              <a:rPr sz="1050" b="1">
                <a:solidFill>
                  <a:srgbClr val="0D2E5E"/>
                </a:solidFill>
                <a:latin typeface="Arial"/>
              </a:rPr>
              <a:t>15.2%   $112</a:t>
            </a:r>
          </a:p>
          <a:p>
            <a:r>
              <a:rPr sz="850" b="0">
                <a:solidFill>
                  <a:srgbClr val="6B7A8C"/>
                </a:solidFill>
                <a:latin typeface="Arial"/>
              </a:rPr>
              <a:t>one-way · last-minute · flex · 3d</a:t>
            </a:r>
          </a:p>
        </p:txBody>
      </p:sp>
      <p:sp>
        <p:nvSpPr>
          <p:cNvPr id="22" name="TextBox 21"/>
          <p:cNvSpPr txBox="1"/>
          <p:nvPr/>
        </p:nvSpPr>
        <p:spPr>
          <a:xfrm>
            <a:off x="914400" y="5230368"/>
            <a:ext cx="10241280" cy="777240"/>
          </a:xfrm>
          <a:prstGeom prst="rect">
            <a:avLst/>
          </a:prstGeom>
          <a:noFill/>
        </p:spPr>
        <p:txBody>
          <a:bodyPr wrap="square" anchor="t" lIns="0" rIns="0" tIns="0" bIns="0">
            <a:spAutoFit/>
          </a:bodyPr>
          <a:lstStyle/>
          <a:p>
            <a:r>
              <a:rPr sz="1200" b="1">
                <a:solidFill>
                  <a:srgbClr val="0D2E5E"/>
                </a:solidFill>
                <a:latin typeface="Arial"/>
              </a:rPr>
              <a:t>The refinement is where the money hides: Balikbayan/VFR runs $311 to $995 on nothing but how far ahead people book, and Corporate spans $112 to $656 at identical short lead times. ML never assigns a segment — it divides one. 40,000 bookings per parent; four is the most the search offered, and BIC wanted all four in every parent — the continuum again, one level down.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44 of 55 boundaries hold on evidence the rules never saw</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971800"/>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218688"/>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971800"/>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82219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4069080"/>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822192"/>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67258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919472"/>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672584"/>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where the volume is; drift sits in the three smallest segments.</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977639" cy="3133897"/>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
        <p:nvSpPr>
          <p:cNvPr id="25" name="Rectangle 24"/>
          <p:cNvSpPr/>
          <p:nvPr/>
        </p:nvSpPr>
        <p:spPr>
          <a:xfrm>
            <a:off x="6492240" y="5248656"/>
            <a:ext cx="40640" cy="237744"/>
          </a:xfrm>
          <a:prstGeom prst="rect">
            <a:avLst/>
          </a:prstGeom>
          <a:solidFill>
            <a:srgbClr val="35A0DB"/>
          </a:solidFill>
          <a:ln>
            <a:noFill/>
          </a:ln>
          <a:effectLst/>
        </p:spPr>
        <p:txBody>
          <a:bodyPr rtlCol="0" anchor="ctr"/>
          <a:lstStyle/>
          <a:p>
            <a:pPr algn="ctr"/>
          </a:p>
        </p:txBody>
      </p:sp>
      <p:sp>
        <p:nvSpPr>
          <p:cNvPr id="26" name="TextBox 25"/>
          <p:cNvSpPr txBox="1"/>
          <p:nvPr/>
        </p:nvSpPr>
        <p:spPr>
          <a:xfrm>
            <a:off x="6638544" y="52303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refit-cadence claim yet: V4 transfer needs a multi-seed spread.</a:t>
            </a:r>
          </a:p>
        </p:txBody>
      </p:sp>
      <p:sp>
        <p:nvSpPr>
          <p:cNvPr id="27" name="Rectangle 26"/>
          <p:cNvSpPr/>
          <p:nvPr/>
        </p:nvSpPr>
        <p:spPr>
          <a:xfrm>
            <a:off x="914400" y="5321808"/>
            <a:ext cx="40640" cy="237744"/>
          </a:xfrm>
          <a:prstGeom prst="rect">
            <a:avLst/>
          </a:prstGeom>
          <a:solidFill>
            <a:srgbClr val="1B74E8"/>
          </a:solidFill>
          <a:ln>
            <a:noFill/>
          </a:ln>
          <a:effectLst/>
        </p:spPr>
        <p:txBody>
          <a:bodyPr rtlCol="0" anchor="ctr"/>
          <a:lstStyle/>
          <a:p>
            <a:pPr algn="ctr"/>
          </a:p>
        </p:txBody>
      </p:sp>
      <p:sp>
        <p:nvSpPr>
          <p:cNvPr id="28" name="TextBox 27"/>
          <p:cNvSpPr txBox="1"/>
          <p:nvPr/>
        </p:nvSpPr>
        <p:spPr>
          <a:xfrm>
            <a:off x="1060704" y="530352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Segment labels add little incremental prediction — by design, not by failure.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